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4" r:id="rId1"/>
  </p:sldMasterIdLst>
  <p:notesMasterIdLst>
    <p:notesMasterId r:id="rId35"/>
  </p:notesMasterIdLst>
  <p:sldIdLst>
    <p:sldId id="256" r:id="rId2"/>
    <p:sldId id="257" r:id="rId3"/>
    <p:sldId id="258" r:id="rId4"/>
    <p:sldId id="260" r:id="rId5"/>
    <p:sldId id="262" r:id="rId6"/>
    <p:sldId id="273" r:id="rId7"/>
    <p:sldId id="274" r:id="rId8"/>
    <p:sldId id="275" r:id="rId9"/>
    <p:sldId id="276" r:id="rId10"/>
    <p:sldId id="277" r:id="rId11"/>
    <p:sldId id="278" r:id="rId12"/>
    <p:sldId id="298" r:id="rId13"/>
    <p:sldId id="297" r:id="rId14"/>
    <p:sldId id="265" r:id="rId15"/>
    <p:sldId id="266" r:id="rId16"/>
    <p:sldId id="311" r:id="rId17"/>
    <p:sldId id="286" r:id="rId18"/>
    <p:sldId id="312" r:id="rId19"/>
    <p:sldId id="267" r:id="rId20"/>
    <p:sldId id="313" r:id="rId21"/>
    <p:sldId id="287" r:id="rId22"/>
    <p:sldId id="314" r:id="rId23"/>
    <p:sldId id="268" r:id="rId24"/>
    <p:sldId id="315" r:id="rId25"/>
    <p:sldId id="310" r:id="rId26"/>
    <p:sldId id="279" r:id="rId27"/>
    <p:sldId id="316" r:id="rId28"/>
    <p:sldId id="280" r:id="rId29"/>
    <p:sldId id="281" r:id="rId30"/>
    <p:sldId id="282" r:id="rId31"/>
    <p:sldId id="283" r:id="rId32"/>
    <p:sldId id="284" r:id="rId33"/>
    <p:sldId id="270"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54"/>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35BC8A-8E88-4523-93E5-72675530DED1}" type="datetimeFigureOut">
              <a:rPr lang="en-US" smtClean="0"/>
              <a:t>2/20/2017</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C247B8-8AA7-4BBC-AB04-F35BEC9707A4}" type="slidenum">
              <a:rPr lang="en-US" smtClean="0"/>
              <a:t>‹#›</a:t>
            </a:fld>
            <a:endParaRPr lang="en-US"/>
          </a:p>
        </p:txBody>
      </p:sp>
    </p:spTree>
    <p:extLst>
      <p:ext uri="{BB962C8B-B14F-4D97-AF65-F5344CB8AC3E}">
        <p14:creationId xmlns:p14="http://schemas.microsoft.com/office/powerpoint/2010/main" val="23999921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A873E74B-B57B-467E-B75E-88B737801E14}" type="datetimeFigureOut">
              <a:rPr lang="en-US" smtClean="0"/>
              <a:t>2/20/2017</a:t>
            </a:fld>
            <a:endParaRPr lang="en-US"/>
          </a:p>
        </p:txBody>
      </p:sp>
      <p:sp>
        <p:nvSpPr>
          <p:cNvPr id="5" name="Footer Placeholder 4"/>
          <p:cNvSpPr>
            <a:spLocks noGrp="1"/>
          </p:cNvSpPr>
          <p:nvPr>
            <p:ph type="ftr" sz="quarter" idx="11"/>
          </p:nvPr>
        </p:nvSpPr>
        <p:spPr>
          <a:xfrm>
            <a:off x="3962399" y="5870575"/>
            <a:ext cx="4893958" cy="377825"/>
          </a:xfrm>
        </p:spPr>
        <p:txBody>
          <a:bodyPr/>
          <a:lstStyle/>
          <a:p>
            <a:endParaRPr lang="en-US"/>
          </a:p>
        </p:txBody>
      </p:sp>
      <p:sp>
        <p:nvSpPr>
          <p:cNvPr id="6" name="Slide Number Placeholder 5"/>
          <p:cNvSpPr>
            <a:spLocks noGrp="1"/>
          </p:cNvSpPr>
          <p:nvPr>
            <p:ph type="sldNum" sz="quarter" idx="12"/>
          </p:nvPr>
        </p:nvSpPr>
        <p:spPr>
          <a:xfrm>
            <a:off x="10608958" y="5870575"/>
            <a:ext cx="551167" cy="377825"/>
          </a:xfrm>
        </p:spPr>
        <p:txBody>
          <a:bodyPr/>
          <a:lstStyle/>
          <a:p>
            <a:fld id="{3243EA82-6CB1-4F7B-A6F1-98A1134F703D}" type="slidenum">
              <a:rPr lang="en-US" smtClean="0"/>
              <a:t>‹#›</a:t>
            </a:fld>
            <a:endParaRPr lang="en-US"/>
          </a:p>
        </p:txBody>
      </p:sp>
    </p:spTree>
    <p:extLst>
      <p:ext uri="{BB962C8B-B14F-4D97-AF65-F5344CB8AC3E}">
        <p14:creationId xmlns:p14="http://schemas.microsoft.com/office/powerpoint/2010/main" val="268023691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873E74B-B57B-467E-B75E-88B737801E14}" type="datetimeFigureOut">
              <a:rPr lang="en-US" smtClean="0"/>
              <a:t>2/20/2017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43EA82-6CB1-4F7B-A6F1-98A1134F703D}" type="slidenum">
              <a:rPr lang="en-US" smtClean="0"/>
              <a:t>‹#›</a:t>
            </a:fld>
            <a:endParaRPr lang="en-US"/>
          </a:p>
        </p:txBody>
      </p:sp>
    </p:spTree>
    <p:extLst>
      <p:ext uri="{BB962C8B-B14F-4D97-AF65-F5344CB8AC3E}">
        <p14:creationId xmlns:p14="http://schemas.microsoft.com/office/powerpoint/2010/main" val="11270589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873E74B-B57B-467E-B75E-88B737801E14}" type="datetimeFigureOut">
              <a:rPr lang="en-US" smtClean="0"/>
              <a:t>2/20/2017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43EA82-6CB1-4F7B-A6F1-98A1134F703D}" type="slidenum">
              <a:rPr lang="en-US" smtClean="0"/>
              <a:t>‹#›</a:t>
            </a:fld>
            <a:endParaRPr lang="en-US"/>
          </a:p>
        </p:txBody>
      </p:sp>
    </p:spTree>
    <p:extLst>
      <p:ext uri="{BB962C8B-B14F-4D97-AF65-F5344CB8AC3E}">
        <p14:creationId xmlns:p14="http://schemas.microsoft.com/office/powerpoint/2010/main" val="16650169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873E74B-B57B-467E-B75E-88B737801E14}" type="datetimeFigureOut">
              <a:rPr lang="en-US" smtClean="0"/>
              <a:t>2/20/2017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43EA82-6CB1-4F7B-A6F1-98A1134F703D}" type="slidenum">
              <a:rPr lang="en-US" smtClean="0"/>
              <a:t>‹#›</a:t>
            </a:fld>
            <a:endParaRPr lang="en-US"/>
          </a:p>
        </p:txBody>
      </p:sp>
    </p:spTree>
    <p:extLst>
      <p:ext uri="{BB962C8B-B14F-4D97-AF65-F5344CB8AC3E}">
        <p14:creationId xmlns:p14="http://schemas.microsoft.com/office/powerpoint/2010/main" val="31508575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873E74B-B57B-467E-B75E-88B737801E14}" type="datetimeFigureOut">
              <a:rPr lang="en-US" smtClean="0"/>
              <a:t>2/20/2017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243EA82-6CB1-4F7B-A6F1-98A1134F703D}" type="slidenum">
              <a:rPr lang="en-US" smtClean="0"/>
              <a:t>‹#›</a:t>
            </a:fld>
            <a:endParaRPr lang="en-US"/>
          </a:p>
        </p:txBody>
      </p:sp>
    </p:spTree>
    <p:extLst>
      <p:ext uri="{BB962C8B-B14F-4D97-AF65-F5344CB8AC3E}">
        <p14:creationId xmlns:p14="http://schemas.microsoft.com/office/powerpoint/2010/main" val="41253130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873E74B-B57B-467E-B75E-88B737801E14}" type="datetimeFigureOut">
              <a:rPr lang="en-US" smtClean="0"/>
              <a:t>2/20/2017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43EA82-6CB1-4F7B-A6F1-98A1134F703D}" type="slidenum">
              <a:rPr lang="en-US" smtClean="0"/>
              <a:t>‹#›</a:t>
            </a:fld>
            <a:endParaRPr lang="en-US"/>
          </a:p>
        </p:txBody>
      </p:sp>
    </p:spTree>
    <p:extLst>
      <p:ext uri="{BB962C8B-B14F-4D97-AF65-F5344CB8AC3E}">
        <p14:creationId xmlns:p14="http://schemas.microsoft.com/office/powerpoint/2010/main" val="1828586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A873E74B-B57B-467E-B75E-88B737801E14}" type="datetimeFigureOut">
              <a:rPr lang="en-US" smtClean="0"/>
              <a:t>2/20/2017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243EA82-6CB1-4F7B-A6F1-98A1134F703D}" type="slidenum">
              <a:rPr lang="en-US" smtClean="0"/>
              <a:t>‹#›</a:t>
            </a:fld>
            <a:endParaRPr lang="en-US"/>
          </a:p>
        </p:txBody>
      </p:sp>
    </p:spTree>
    <p:extLst>
      <p:ext uri="{BB962C8B-B14F-4D97-AF65-F5344CB8AC3E}">
        <p14:creationId xmlns:p14="http://schemas.microsoft.com/office/powerpoint/2010/main" val="3083975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A873E74B-B57B-467E-B75E-88B737801E14}" type="datetimeFigureOut">
              <a:rPr lang="en-US" smtClean="0"/>
              <a:t>2/20/2017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43EA82-6CB1-4F7B-A6F1-98A1134F703D}" type="slidenum">
              <a:rPr lang="en-US" smtClean="0"/>
              <a:t>‹#›</a:t>
            </a:fld>
            <a:endParaRPr lang="en-US"/>
          </a:p>
        </p:txBody>
      </p:sp>
    </p:spTree>
    <p:extLst>
      <p:ext uri="{BB962C8B-B14F-4D97-AF65-F5344CB8AC3E}">
        <p14:creationId xmlns:p14="http://schemas.microsoft.com/office/powerpoint/2010/main" val="17511251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A873E74B-B57B-467E-B75E-88B737801E14}" type="datetimeFigureOut">
              <a:rPr lang="en-US" smtClean="0"/>
              <a:t>2/20/2017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43EA82-6CB1-4F7B-A6F1-98A1134F703D}" type="slidenum">
              <a:rPr lang="en-US" smtClean="0"/>
              <a:t>‹#›</a:t>
            </a:fld>
            <a:endParaRPr lang="en-US"/>
          </a:p>
        </p:txBody>
      </p:sp>
    </p:spTree>
    <p:extLst>
      <p:ext uri="{BB962C8B-B14F-4D97-AF65-F5344CB8AC3E}">
        <p14:creationId xmlns:p14="http://schemas.microsoft.com/office/powerpoint/2010/main" val="16650554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A873E74B-B57B-467E-B75E-88B737801E14}" type="datetimeFigureOut">
              <a:rPr lang="en-US" smtClean="0"/>
              <a:t>2/20/2017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43EA82-6CB1-4F7B-A6F1-98A1134F703D}" type="slidenum">
              <a:rPr lang="en-US" smtClean="0"/>
              <a:t>‹#›</a:t>
            </a:fld>
            <a:endParaRPr lang="en-US"/>
          </a:p>
        </p:txBody>
      </p:sp>
    </p:spTree>
    <p:extLst>
      <p:ext uri="{BB962C8B-B14F-4D97-AF65-F5344CB8AC3E}">
        <p14:creationId xmlns:p14="http://schemas.microsoft.com/office/powerpoint/2010/main" val="9038364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873E74B-B57B-467E-B75E-88B737801E14}" type="datetimeFigureOut">
              <a:rPr lang="en-US" smtClean="0"/>
              <a:t>2/20/2017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43EA82-6CB1-4F7B-A6F1-98A1134F703D}" type="slidenum">
              <a:rPr lang="en-US" smtClean="0"/>
              <a:t>‹#›</a:t>
            </a:fld>
            <a:endParaRPr lang="en-US"/>
          </a:p>
        </p:txBody>
      </p:sp>
    </p:spTree>
    <p:extLst>
      <p:ext uri="{BB962C8B-B14F-4D97-AF65-F5344CB8AC3E}">
        <p14:creationId xmlns:p14="http://schemas.microsoft.com/office/powerpoint/2010/main" val="15995927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873E74B-B57B-467E-B75E-88B737801E14}" type="datetimeFigureOut">
              <a:rPr lang="en-US" smtClean="0"/>
              <a:t>2/20/2017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43EA82-6CB1-4F7B-A6F1-98A1134F703D}" type="slidenum">
              <a:rPr lang="en-US" smtClean="0"/>
              <a:t>‹#›</a:t>
            </a:fld>
            <a:endParaRPr lang="en-US"/>
          </a:p>
        </p:txBody>
      </p:sp>
    </p:spTree>
    <p:extLst>
      <p:ext uri="{BB962C8B-B14F-4D97-AF65-F5344CB8AC3E}">
        <p14:creationId xmlns:p14="http://schemas.microsoft.com/office/powerpoint/2010/main" val="29740242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873E74B-B57B-467E-B75E-88B737801E14}" type="datetimeFigureOut">
              <a:rPr lang="en-US" smtClean="0"/>
              <a:t>2/20/2017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43EA82-6CB1-4F7B-A6F1-98A1134F703D}" type="slidenum">
              <a:rPr lang="en-US" smtClean="0"/>
              <a:t>‹#›</a:t>
            </a:fld>
            <a:endParaRPr lang="en-US"/>
          </a:p>
        </p:txBody>
      </p:sp>
    </p:spTree>
    <p:extLst>
      <p:ext uri="{BB962C8B-B14F-4D97-AF65-F5344CB8AC3E}">
        <p14:creationId xmlns:p14="http://schemas.microsoft.com/office/powerpoint/2010/main" val="7357613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873E74B-B57B-467E-B75E-88B737801E14}" type="datetimeFigureOut">
              <a:rPr lang="en-US" smtClean="0"/>
              <a:t>2/20/2017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43EA82-6CB1-4F7B-A6F1-98A1134F703D}" type="slidenum">
              <a:rPr lang="en-US" smtClean="0"/>
              <a:t>‹#›</a:t>
            </a:fld>
            <a:endParaRPr lang="en-US"/>
          </a:p>
        </p:txBody>
      </p:sp>
    </p:spTree>
    <p:extLst>
      <p:ext uri="{BB962C8B-B14F-4D97-AF65-F5344CB8AC3E}">
        <p14:creationId xmlns:p14="http://schemas.microsoft.com/office/powerpoint/2010/main" val="26495713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873E74B-B57B-467E-B75E-88B737801E14}" type="datetimeFigureOut">
              <a:rPr lang="en-US" smtClean="0"/>
              <a:t>2/20/2017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43EA82-6CB1-4F7B-A6F1-98A1134F703D}" type="slidenum">
              <a:rPr lang="en-US" smtClean="0"/>
              <a:t>‹#›</a:t>
            </a:fld>
            <a:endParaRPr lang="en-US"/>
          </a:p>
        </p:txBody>
      </p:sp>
    </p:spTree>
    <p:extLst>
      <p:ext uri="{BB962C8B-B14F-4D97-AF65-F5344CB8AC3E}">
        <p14:creationId xmlns:p14="http://schemas.microsoft.com/office/powerpoint/2010/main" val="38410388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873E74B-B57B-467E-B75E-88B737801E14}" type="datetimeFigureOut">
              <a:rPr lang="en-US" smtClean="0"/>
              <a:t>2/20/2017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43EA82-6CB1-4F7B-A6F1-98A1134F703D}" type="slidenum">
              <a:rPr lang="en-US" smtClean="0"/>
              <a:t>‹#›</a:t>
            </a:fld>
            <a:endParaRPr lang="en-US"/>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18466826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873E74B-B57B-467E-B75E-88B737801E14}" type="datetimeFigureOut">
              <a:rPr lang="en-US" smtClean="0"/>
              <a:t>2/20/2017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43EA82-6CB1-4F7B-A6F1-98A1134F703D}" type="slidenum">
              <a:rPr lang="en-US" smtClean="0"/>
              <a:t>‹#›</a:t>
            </a:fld>
            <a:endParaRPr lang="en-US"/>
          </a:p>
        </p:txBody>
      </p:sp>
    </p:spTree>
    <p:extLst>
      <p:ext uri="{BB962C8B-B14F-4D97-AF65-F5344CB8AC3E}">
        <p14:creationId xmlns:p14="http://schemas.microsoft.com/office/powerpoint/2010/main" val="21146012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873E74B-B57B-467E-B75E-88B737801E14}" type="datetimeFigureOut">
              <a:rPr lang="en-US" smtClean="0"/>
              <a:t>2/20/2017</a:t>
            </a:fld>
            <a:endParaRPr lang="en-US"/>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243EA82-6CB1-4F7B-A6F1-98A1134F703D}" type="slidenum">
              <a:rPr lang="en-US" smtClean="0"/>
              <a:t>‹#›</a:t>
            </a:fld>
            <a:endParaRPr lang="en-US"/>
          </a:p>
        </p:txBody>
      </p:sp>
    </p:spTree>
    <p:extLst>
      <p:ext uri="{BB962C8B-B14F-4D97-AF65-F5344CB8AC3E}">
        <p14:creationId xmlns:p14="http://schemas.microsoft.com/office/powerpoint/2010/main" val="3933924298"/>
      </p:ext>
    </p:extLst>
  </p:cSld>
  <p:clrMap bg1="dk1" tx1="lt1" bg2="dk2" tx2="lt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 id="2147483876" r:id="rId12"/>
    <p:sldLayoutId id="2147483877" r:id="rId13"/>
    <p:sldLayoutId id="2147483878" r:id="rId14"/>
    <p:sldLayoutId id="2147483879" r:id="rId15"/>
    <p:sldLayoutId id="2147483880" r:id="rId16"/>
    <p:sldLayoutId id="2147483881"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1.tmp"/><Relationship Id="rId2" Type="http://schemas.openxmlformats.org/officeDocument/2006/relationships/image" Target="../media/image10.tmp"/><Relationship Id="rId1" Type="http://schemas.openxmlformats.org/officeDocument/2006/relationships/slideLayout" Target="../slideLayouts/slideLayout2.xml"/><Relationship Id="rId6" Type="http://schemas.openxmlformats.org/officeDocument/2006/relationships/image" Target="../media/image14.tmp"/><Relationship Id="rId5" Type="http://schemas.openxmlformats.org/officeDocument/2006/relationships/image" Target="../media/image13.tmp"/><Relationship Id="rId4" Type="http://schemas.openxmlformats.org/officeDocument/2006/relationships/image" Target="../media/image12.tmp"/></Relationships>
</file>

<file path=ppt/slides/_rels/slide26.xml.rels><?xml version="1.0" encoding="UTF-8" standalone="yes"?>
<Relationships xmlns="http://schemas.openxmlformats.org/package/2006/relationships"><Relationship Id="rId2" Type="http://schemas.openxmlformats.org/officeDocument/2006/relationships/image" Target="../media/image15.tmp"/><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0.tmp"/><Relationship Id="rId2" Type="http://schemas.openxmlformats.org/officeDocument/2006/relationships/image" Target="../media/image19.tmp"/><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1792" y="0"/>
            <a:ext cx="11449878" cy="3299791"/>
          </a:xfrm>
        </p:spPr>
        <p:txBody>
          <a:bodyPr>
            <a:noAutofit/>
          </a:bodyPr>
          <a:lstStyle/>
          <a:p>
            <a:pPr algn="ctr"/>
            <a:r>
              <a:rPr lang="en-US" sz="5400" dirty="0">
                <a:latin typeface="Times New Roman" panose="02020603050405020304" pitchFamily="18" charset="0"/>
                <a:cs typeface="Times New Roman" panose="02020603050405020304" pitchFamily="18" charset="0"/>
              </a:rPr>
              <a:t>SEMANTIC UNDERSTANDING OF AN IMAGE USING </a:t>
            </a:r>
            <a:br>
              <a:rPr lang="en-US" sz="5400" dirty="0">
                <a:latin typeface="Times New Roman" panose="02020603050405020304" pitchFamily="18" charset="0"/>
                <a:cs typeface="Times New Roman" panose="02020603050405020304" pitchFamily="18" charset="0"/>
              </a:rPr>
            </a:br>
            <a:r>
              <a:rPr lang="en-US" sz="5400" dirty="0">
                <a:latin typeface="Times New Roman" panose="02020603050405020304" pitchFamily="18" charset="0"/>
                <a:cs typeface="Times New Roman" panose="02020603050405020304" pitchFamily="18" charset="0"/>
              </a:rPr>
              <a:t>MULTI REGION LABEL ANNOTATION</a:t>
            </a:r>
          </a:p>
        </p:txBody>
      </p:sp>
      <p:sp>
        <p:nvSpPr>
          <p:cNvPr id="3" name="Subtitle 2"/>
          <p:cNvSpPr>
            <a:spLocks noGrp="1"/>
          </p:cNvSpPr>
          <p:nvPr>
            <p:ph type="subTitle" idx="1"/>
          </p:nvPr>
        </p:nvSpPr>
        <p:spPr>
          <a:xfrm>
            <a:off x="1154955" y="3299791"/>
            <a:ext cx="10374436" cy="2928731"/>
          </a:xfrm>
        </p:spPr>
        <p:txBody>
          <a:bodyPr>
            <a:normAutofit/>
          </a:bodyPr>
          <a:lstStyle/>
          <a:p>
            <a:pPr algn="ctr"/>
            <a:r>
              <a:rPr lang="en-US" sz="2400" dirty="0"/>
              <a:t>							UNDER THE GUIDANCE OF </a:t>
            </a:r>
          </a:p>
          <a:p>
            <a:pPr algn="ctr"/>
            <a:r>
              <a:rPr lang="en-US" sz="2400" dirty="0">
                <a:solidFill>
                  <a:srgbClr val="00B0F0"/>
                </a:solidFill>
              </a:rPr>
              <a:t>									</a:t>
            </a:r>
            <a:r>
              <a:rPr lang="en-US" sz="2400" dirty="0">
                <a:solidFill>
                  <a:srgbClr val="FFFF00"/>
                </a:solidFill>
              </a:rPr>
              <a:t>DR.S.CHITRAKALA</a:t>
            </a:r>
          </a:p>
          <a:p>
            <a:pPr algn="ctr"/>
            <a:r>
              <a:rPr lang="en-US" sz="2400" dirty="0">
                <a:solidFill>
                  <a:srgbClr val="00B0F0"/>
                </a:solidFill>
              </a:rPr>
              <a:t>Group 10</a:t>
            </a:r>
          </a:p>
          <a:p>
            <a:pPr algn="ctr"/>
            <a:r>
              <a:rPr lang="en-US" sz="2400" dirty="0">
                <a:solidFill>
                  <a:srgbClr val="00B0F0"/>
                </a:solidFill>
              </a:rPr>
              <a:t> MOHANA PRIYA K - 2013103552</a:t>
            </a:r>
          </a:p>
          <a:p>
            <a:pPr algn="ctr"/>
            <a:r>
              <a:rPr lang="en-US" sz="2400" dirty="0">
                <a:solidFill>
                  <a:srgbClr val="00B0F0"/>
                </a:solidFill>
              </a:rPr>
              <a:t> SUDHARSAN S 	- 2013103566 </a:t>
            </a:r>
          </a:p>
          <a:p>
            <a:pPr algn="ctr"/>
            <a:r>
              <a:rPr lang="en-US" sz="2400" dirty="0">
                <a:solidFill>
                  <a:srgbClr val="00B0F0"/>
                </a:solidFill>
              </a:rPr>
              <a:t> GAYATHRI DEVI K  - 2013013579</a:t>
            </a:r>
          </a:p>
        </p:txBody>
      </p:sp>
    </p:spTree>
    <p:extLst>
      <p:ext uri="{BB962C8B-B14F-4D97-AF65-F5344CB8AC3E}">
        <p14:creationId xmlns:p14="http://schemas.microsoft.com/office/powerpoint/2010/main" val="1851516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04801"/>
            <a:ext cx="10131425" cy="1603512"/>
          </a:xfrm>
        </p:spPr>
        <p:txBody>
          <a:bodyPr/>
          <a:lstStyle/>
          <a:p>
            <a:pPr algn="ctr"/>
            <a:r>
              <a:rPr lang="en-US" dirty="0"/>
              <a:t>ABSTRACT</a:t>
            </a:r>
          </a:p>
        </p:txBody>
      </p:sp>
      <p:sp>
        <p:nvSpPr>
          <p:cNvPr id="3" name="Content Placeholder 2"/>
          <p:cNvSpPr>
            <a:spLocks noGrp="1"/>
          </p:cNvSpPr>
          <p:nvPr>
            <p:ph idx="1"/>
          </p:nvPr>
        </p:nvSpPr>
        <p:spPr>
          <a:xfrm>
            <a:off x="685801" y="1444487"/>
            <a:ext cx="10131425" cy="4969565"/>
          </a:xfrm>
        </p:spPr>
        <p:txBody>
          <a:bodyPr>
            <a:normAutofit/>
          </a:bodyPr>
          <a:lstStyle/>
          <a:p>
            <a:r>
              <a:rPr lang="en-IN" sz="2200" dirty="0">
                <a:latin typeface="Times New Roman" panose="02020603050405020304" pitchFamily="18" charset="0"/>
                <a:cs typeface="Times New Roman" panose="02020603050405020304" pitchFamily="18" charset="0"/>
              </a:rPr>
              <a:t>The aim of this project is to understand a given image and provide a short description about the various objects in the image.</a:t>
            </a:r>
          </a:p>
          <a:p>
            <a:r>
              <a:rPr lang="en-IN" sz="2200" dirty="0">
                <a:latin typeface="Times New Roman" panose="02020603050405020304" pitchFamily="18" charset="0"/>
                <a:cs typeface="Times New Roman" panose="02020603050405020304" pitchFamily="18" charset="0"/>
              </a:rPr>
              <a:t>This textual description can then serve as an input to any </a:t>
            </a:r>
            <a:r>
              <a:rPr lang="en-IN" sz="2200" dirty="0">
                <a:solidFill>
                  <a:srgbClr val="FFC000"/>
                </a:solidFill>
                <a:latin typeface="Times New Roman" panose="02020603050405020304" pitchFamily="18" charset="0"/>
                <a:cs typeface="Times New Roman" panose="02020603050405020304" pitchFamily="18" charset="0"/>
              </a:rPr>
              <a:t>Text-to-Speech converter</a:t>
            </a:r>
            <a:r>
              <a:rPr lang="en-IN" sz="2200" dirty="0">
                <a:latin typeface="Times New Roman" panose="02020603050405020304" pitchFamily="18" charset="0"/>
                <a:cs typeface="Times New Roman" panose="02020603050405020304" pitchFamily="18" charset="0"/>
              </a:rPr>
              <a:t>.</a:t>
            </a:r>
          </a:p>
          <a:p>
            <a:r>
              <a:rPr lang="en-IN" sz="2200" dirty="0">
                <a:solidFill>
                  <a:srgbClr val="FFC000"/>
                </a:solidFill>
                <a:latin typeface="Times New Roman" panose="02020603050405020304" pitchFamily="18" charset="0"/>
                <a:cs typeface="Times New Roman" panose="02020603050405020304" pitchFamily="18" charset="0"/>
              </a:rPr>
              <a:t>Multi Label annotation</a:t>
            </a:r>
            <a:r>
              <a:rPr lang="en-IN" sz="2200" dirty="0">
                <a:latin typeface="Times New Roman" panose="02020603050405020304" pitchFamily="18" charset="0"/>
                <a:cs typeface="Times New Roman" panose="02020603050405020304" pitchFamily="18" charset="0"/>
              </a:rPr>
              <a:t> is performed for better understanding of the relationship between the various objects in an image and to provide a contextually better textual description of the given image.</a:t>
            </a:r>
          </a:p>
          <a:p>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09339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238540"/>
            <a:ext cx="10131425" cy="1391477"/>
          </a:xfrm>
        </p:spPr>
        <p:txBody>
          <a:bodyPr/>
          <a:lstStyle/>
          <a:p>
            <a:pPr algn="ctr"/>
            <a:r>
              <a:rPr lang="en-US" dirty="0"/>
              <a:t>INTRODUCTION</a:t>
            </a:r>
          </a:p>
        </p:txBody>
      </p:sp>
      <p:sp>
        <p:nvSpPr>
          <p:cNvPr id="3" name="Content Placeholder 2"/>
          <p:cNvSpPr>
            <a:spLocks noGrp="1"/>
          </p:cNvSpPr>
          <p:nvPr>
            <p:ph idx="1"/>
          </p:nvPr>
        </p:nvSpPr>
        <p:spPr>
          <a:xfrm>
            <a:off x="685801" y="1762539"/>
            <a:ext cx="10131425" cy="4545496"/>
          </a:xfrm>
        </p:spPr>
        <p:txBody>
          <a:bodyPr>
            <a:normAutofit/>
          </a:bodyPr>
          <a:lstStyle/>
          <a:p>
            <a:r>
              <a:rPr lang="en-IN" sz="2200" dirty="0">
                <a:latin typeface="Times New Roman" panose="02020603050405020304" pitchFamily="18" charset="0"/>
                <a:cs typeface="Times New Roman" panose="02020603050405020304" pitchFamily="18" charset="0"/>
              </a:rPr>
              <a:t>Image processing is a rapidly growing field of research. .</a:t>
            </a:r>
          </a:p>
          <a:p>
            <a:r>
              <a:rPr lang="en-IN" sz="2200" dirty="0">
                <a:latin typeface="Times New Roman" panose="02020603050405020304" pitchFamily="18" charset="0"/>
                <a:cs typeface="Times New Roman" panose="02020603050405020304" pitchFamily="18" charset="0"/>
              </a:rPr>
              <a:t>Common people can easily understand the image on seeing the image with their naked eyes but that is not the case with the blind people.</a:t>
            </a:r>
          </a:p>
          <a:p>
            <a:r>
              <a:rPr lang="en-IN" sz="2200" dirty="0">
                <a:latin typeface="Times New Roman" panose="02020603050405020304" pitchFamily="18" charset="0"/>
                <a:cs typeface="Times New Roman" panose="02020603050405020304" pitchFamily="18" charset="0"/>
              </a:rPr>
              <a:t>This project is intended to help such people.</a:t>
            </a:r>
          </a:p>
          <a:p>
            <a:r>
              <a:rPr lang="en-IN" sz="2200" dirty="0">
                <a:latin typeface="Times New Roman" panose="02020603050405020304" pitchFamily="18" charset="0"/>
                <a:cs typeface="Times New Roman" panose="02020603050405020304" pitchFamily="18" charset="0"/>
              </a:rPr>
              <a:t>Given an image , the image is converted to textual description of that image which can be given as a input .</a:t>
            </a:r>
          </a:p>
          <a:p>
            <a:r>
              <a:rPr lang="en-IN" sz="2200" dirty="0">
                <a:latin typeface="Times New Roman" panose="02020603050405020304" pitchFamily="18" charset="0"/>
                <a:cs typeface="Times New Roman" panose="02020603050405020304" pitchFamily="18" charset="0"/>
              </a:rPr>
              <a:t>The process involved in image to textual description includes</a:t>
            </a:r>
            <a:r>
              <a:rPr lang="en-US" sz="2200" dirty="0">
                <a:latin typeface="Times New Roman" panose="02020603050405020304" pitchFamily="18" charset="0"/>
                <a:cs typeface="Times New Roman" panose="02020603050405020304" pitchFamily="18" charset="0"/>
              </a:rPr>
              <a:t> image processing like </a:t>
            </a:r>
            <a:r>
              <a:rPr lang="en-US" sz="2200" dirty="0">
                <a:solidFill>
                  <a:srgbClr val="FFC000"/>
                </a:solidFill>
                <a:latin typeface="Times New Roman" panose="02020603050405020304" pitchFamily="18" charset="0"/>
                <a:cs typeface="Times New Roman" panose="02020603050405020304" pitchFamily="18" charset="0"/>
              </a:rPr>
              <a:t>Pre-Processing</a:t>
            </a:r>
            <a:r>
              <a:rPr lang="en-US" sz="2200" dirty="0">
                <a:latin typeface="Times New Roman" panose="02020603050405020304" pitchFamily="18" charset="0"/>
                <a:cs typeface="Times New Roman" panose="02020603050405020304" pitchFamily="18" charset="0"/>
              </a:rPr>
              <a:t>, </a:t>
            </a:r>
            <a:r>
              <a:rPr lang="en-US" sz="2200" dirty="0">
                <a:solidFill>
                  <a:srgbClr val="FFC000"/>
                </a:solidFill>
                <a:latin typeface="Times New Roman" panose="02020603050405020304" pitchFamily="18" charset="0"/>
                <a:cs typeface="Times New Roman" panose="02020603050405020304" pitchFamily="18" charset="0"/>
              </a:rPr>
              <a:t>Image Segmentation</a:t>
            </a:r>
            <a:r>
              <a:rPr lang="en-US" sz="2200" dirty="0">
                <a:latin typeface="Times New Roman" panose="02020603050405020304" pitchFamily="18" charset="0"/>
                <a:cs typeface="Times New Roman" panose="02020603050405020304" pitchFamily="18" charset="0"/>
              </a:rPr>
              <a:t>, </a:t>
            </a:r>
            <a:r>
              <a:rPr lang="en-US" sz="2200" dirty="0">
                <a:solidFill>
                  <a:srgbClr val="FFC000"/>
                </a:solidFill>
                <a:latin typeface="Times New Roman" panose="02020603050405020304" pitchFamily="18" charset="0"/>
                <a:cs typeface="Times New Roman" panose="02020603050405020304" pitchFamily="18" charset="0"/>
              </a:rPr>
              <a:t>Edge Detection</a:t>
            </a:r>
            <a:r>
              <a:rPr lang="en-US" sz="2200" dirty="0">
                <a:latin typeface="Times New Roman" panose="02020603050405020304" pitchFamily="18" charset="0"/>
                <a:cs typeface="Times New Roman" panose="02020603050405020304" pitchFamily="18" charset="0"/>
              </a:rPr>
              <a:t>, </a:t>
            </a:r>
            <a:r>
              <a:rPr lang="en-US" sz="2200" dirty="0">
                <a:solidFill>
                  <a:srgbClr val="FFC000"/>
                </a:solidFill>
                <a:latin typeface="Times New Roman" panose="02020603050405020304" pitchFamily="18" charset="0"/>
                <a:cs typeface="Times New Roman" panose="02020603050405020304" pitchFamily="18" charset="0"/>
              </a:rPr>
              <a:t>Segmentation, Feature Extraction</a:t>
            </a:r>
            <a:r>
              <a:rPr lang="en-US" sz="2200" dirty="0">
                <a:latin typeface="Times New Roman" panose="02020603050405020304" pitchFamily="18" charset="0"/>
                <a:cs typeface="Times New Roman" panose="02020603050405020304" pitchFamily="18" charset="0"/>
              </a:rPr>
              <a:t>. </a:t>
            </a:r>
          </a:p>
          <a:p>
            <a:r>
              <a:rPr lang="en-US" sz="2200" dirty="0">
                <a:latin typeface="Times New Roman" panose="02020603050405020304" pitchFamily="18" charset="0"/>
                <a:cs typeface="Times New Roman" panose="02020603050405020304" pitchFamily="18" charset="0"/>
              </a:rPr>
              <a:t>In addition to this , </a:t>
            </a:r>
            <a:r>
              <a:rPr lang="en-US" sz="2200" dirty="0">
                <a:solidFill>
                  <a:srgbClr val="FFC000"/>
                </a:solidFill>
                <a:latin typeface="Times New Roman" panose="02020603050405020304" pitchFamily="18" charset="0"/>
                <a:cs typeface="Times New Roman" panose="02020603050405020304" pitchFamily="18" charset="0"/>
              </a:rPr>
              <a:t>Multi Label Annotation</a:t>
            </a:r>
            <a:r>
              <a:rPr lang="en-US" sz="2200" dirty="0">
                <a:latin typeface="Times New Roman" panose="02020603050405020304" pitchFamily="18" charset="0"/>
                <a:cs typeface="Times New Roman" panose="02020603050405020304" pitchFamily="18" charset="0"/>
              </a:rPr>
              <a:t> is involved for better understanding of image.</a:t>
            </a:r>
            <a:endParaRPr lang="en-IN"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31981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198784"/>
            <a:ext cx="10131425" cy="993912"/>
          </a:xfrm>
        </p:spPr>
        <p:txBody>
          <a:bodyPr/>
          <a:lstStyle/>
          <a:p>
            <a:pPr algn="ctr"/>
            <a:r>
              <a:rPr lang="en-US" dirty="0"/>
              <a:t>LITERATURE SURVEY-1</a:t>
            </a:r>
          </a:p>
        </p:txBody>
      </p:sp>
      <p:sp>
        <p:nvSpPr>
          <p:cNvPr id="3" name="Content Placeholder 2"/>
          <p:cNvSpPr>
            <a:spLocks noGrp="1"/>
          </p:cNvSpPr>
          <p:nvPr>
            <p:ph idx="1"/>
          </p:nvPr>
        </p:nvSpPr>
        <p:spPr>
          <a:xfrm>
            <a:off x="685801" y="1364974"/>
            <a:ext cx="10131425" cy="5274365"/>
          </a:xfrm>
        </p:spPr>
        <p:txBody>
          <a:bodyPr>
            <a:normAutofit/>
          </a:bodyPr>
          <a:lstStyle/>
          <a:p>
            <a:r>
              <a:rPr lang="en-US" sz="2200" b="1" dirty="0">
                <a:solidFill>
                  <a:srgbClr val="FFC000"/>
                </a:solidFill>
                <a:latin typeface="Times New Roman" panose="02020603050405020304" pitchFamily="18" charset="0"/>
                <a:ea typeface="Tahoma" pitchFamily="34" charset="0"/>
                <a:cs typeface="Times New Roman" panose="02020603050405020304" pitchFamily="18" charset="0"/>
              </a:rPr>
              <a:t>“</a:t>
            </a:r>
            <a:r>
              <a:rPr lang="en-US" sz="2200" b="1" dirty="0">
                <a:solidFill>
                  <a:srgbClr val="FFC000"/>
                </a:solidFill>
                <a:latin typeface="Times New Roman" panose="02020603050405020304" pitchFamily="18" charset="0"/>
                <a:cs typeface="Times New Roman" panose="02020603050405020304" pitchFamily="18" charset="0"/>
              </a:rPr>
              <a:t>Multi-Instance Multi-label Learning Combining Hierarchical Context and Its Application to Image Annotation </a:t>
            </a:r>
            <a:r>
              <a:rPr lang="en-US" sz="2200" b="1" dirty="0">
                <a:solidFill>
                  <a:srgbClr val="FFC000"/>
                </a:solidFill>
                <a:latin typeface="Times New Roman" panose="02020603050405020304" pitchFamily="18" charset="0"/>
                <a:ea typeface="Tahoma" pitchFamily="34" charset="0"/>
                <a:cs typeface="Times New Roman" panose="02020603050405020304" pitchFamily="18" charset="0"/>
              </a:rPr>
              <a:t>”</a:t>
            </a:r>
            <a:r>
              <a:rPr lang="en-US" sz="2200" dirty="0">
                <a:solidFill>
                  <a:srgbClr val="FFC000"/>
                </a:solidFill>
                <a:latin typeface="Times New Roman" panose="02020603050405020304" pitchFamily="18" charset="0"/>
                <a:ea typeface="Tahoma" pitchFamily="34" charset="0"/>
                <a:cs typeface="Times New Roman" panose="02020603050405020304" pitchFamily="18" charset="0"/>
              </a:rPr>
              <a:t>,</a:t>
            </a:r>
            <a:r>
              <a:rPr lang="en-US" sz="2200" dirty="0">
                <a:solidFill>
                  <a:srgbClr val="FFC000"/>
                </a:solidFill>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Xinmiao</a:t>
            </a:r>
            <a:r>
              <a:rPr lang="en-US" sz="2200" dirty="0">
                <a:latin typeface="Times New Roman" panose="02020603050405020304" pitchFamily="18" charset="0"/>
                <a:cs typeface="Times New Roman" panose="02020603050405020304" pitchFamily="18" charset="0"/>
              </a:rPr>
              <a:t> Ding, Bing Li, </a:t>
            </a:r>
            <a:r>
              <a:rPr lang="en-US" sz="2200" dirty="0" err="1">
                <a:latin typeface="Times New Roman" panose="02020603050405020304" pitchFamily="18" charset="0"/>
                <a:cs typeface="Times New Roman" panose="02020603050405020304" pitchFamily="18" charset="0"/>
              </a:rPr>
              <a:t>Weihua</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Xiong</a:t>
            </a:r>
            <a:r>
              <a:rPr lang="en-US" sz="2200" dirty="0">
                <a:latin typeface="Times New Roman" panose="02020603050405020304" pitchFamily="18" charset="0"/>
                <a:cs typeface="Times New Roman" panose="02020603050405020304" pitchFamily="18" charset="0"/>
              </a:rPr>
              <a:t>, Wen </a:t>
            </a:r>
            <a:r>
              <a:rPr lang="en-US" sz="2200" dirty="0" err="1">
                <a:latin typeface="Times New Roman" panose="02020603050405020304" pitchFamily="18" charset="0"/>
                <a:cs typeface="Times New Roman" panose="02020603050405020304" pitchFamily="18" charset="0"/>
              </a:rPr>
              <a:t>Guo</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Weiming</a:t>
            </a:r>
            <a:r>
              <a:rPr lang="en-US" sz="2200" dirty="0">
                <a:latin typeface="Times New Roman" panose="02020603050405020304" pitchFamily="18" charset="0"/>
                <a:cs typeface="Times New Roman" panose="02020603050405020304" pitchFamily="18" charset="0"/>
              </a:rPr>
              <a:t> Hu, Bo Wang </a:t>
            </a:r>
            <a:r>
              <a:rPr lang="en-US" sz="2200" dirty="0">
                <a:latin typeface="Times New Roman" panose="02020603050405020304" pitchFamily="18" charset="0"/>
                <a:ea typeface="Tahoma" pitchFamily="34" charset="0"/>
                <a:cs typeface="Times New Roman" panose="02020603050405020304" pitchFamily="18" charset="0"/>
              </a:rPr>
              <a:t>, IEEE Transactions on </a:t>
            </a:r>
            <a:r>
              <a:rPr lang="en-US" sz="2200" dirty="0">
                <a:latin typeface="Times New Roman" panose="02020603050405020304" pitchFamily="18" charset="0"/>
                <a:cs typeface="Times New Roman" panose="02020603050405020304" pitchFamily="18" charset="0"/>
              </a:rPr>
              <a:t>Multimedia, Volume: 18, Issue:8,Pages: 1616 - 1627,2016.</a:t>
            </a:r>
          </a:p>
          <a:p>
            <a:pPr marL="0" indent="0">
              <a:buNone/>
            </a:pPr>
            <a:r>
              <a:rPr lang="en-US" sz="2200" dirty="0">
                <a:solidFill>
                  <a:srgbClr val="FFC000"/>
                </a:solidFill>
                <a:latin typeface="Times New Roman" panose="02020603050405020304" pitchFamily="18" charset="0"/>
                <a:cs typeface="Times New Roman" panose="02020603050405020304" pitchFamily="18" charset="0"/>
              </a:rPr>
              <a:t>MERITS:</a:t>
            </a:r>
          </a:p>
          <a:p>
            <a:r>
              <a:rPr lang="en-US" sz="2200" dirty="0">
                <a:latin typeface="Times New Roman" panose="02020603050405020304" pitchFamily="18" charset="0"/>
                <a:cs typeface="Times New Roman" panose="02020603050405020304" pitchFamily="18" charset="0"/>
              </a:rPr>
              <a:t>It is easier to label all possible objects in the image by identifying their features.</a:t>
            </a:r>
          </a:p>
          <a:p>
            <a:r>
              <a:rPr lang="en-US" sz="2200" dirty="0">
                <a:latin typeface="Times New Roman" panose="02020603050405020304" pitchFamily="18" charset="0"/>
                <a:cs typeface="Times New Roman" panose="02020603050405020304" pitchFamily="18" charset="0"/>
              </a:rPr>
              <a:t>It gives a better view and is often easier to read than paragraphs.</a:t>
            </a:r>
          </a:p>
          <a:p>
            <a:r>
              <a:rPr lang="en-US" sz="2200" dirty="0">
                <a:latin typeface="Times New Roman" panose="02020603050405020304" pitchFamily="18" charset="0"/>
                <a:cs typeface="Times New Roman" panose="02020603050405020304" pitchFamily="18" charset="0"/>
              </a:rPr>
              <a:t>It helps the blind in understanding an image.</a:t>
            </a:r>
          </a:p>
          <a:p>
            <a:pPr marL="0" indent="0">
              <a:buNone/>
            </a:pPr>
            <a:r>
              <a:rPr lang="en-US" sz="2200" dirty="0">
                <a:solidFill>
                  <a:srgbClr val="FFC000"/>
                </a:solidFill>
                <a:latin typeface="Times New Roman" panose="02020603050405020304" pitchFamily="18" charset="0"/>
                <a:cs typeface="Times New Roman" panose="02020603050405020304" pitchFamily="18" charset="0"/>
              </a:rPr>
              <a:t>DEMERITS:</a:t>
            </a:r>
          </a:p>
          <a:p>
            <a:r>
              <a:rPr lang="en-US" sz="2200" dirty="0">
                <a:latin typeface="Times New Roman" panose="02020603050405020304" pitchFamily="18" charset="0"/>
                <a:cs typeface="Times New Roman" panose="02020603050405020304" pitchFamily="18" charset="0"/>
              </a:rPr>
              <a:t>Multi-Instance Multi-Label (MIML) is sometimes less efficient than Context-aware Multi-Instance Multi-Label (CMIML)</a:t>
            </a:r>
            <a:endParaRPr lang="en-US" sz="2200" dirty="0">
              <a:solidFill>
                <a:srgbClr val="FFC000"/>
              </a:solidFill>
              <a:latin typeface="Times New Roman" panose="02020603050405020304" pitchFamily="18" charset="0"/>
              <a:cs typeface="Times New Roman" panose="02020603050405020304" pitchFamily="18" charset="0"/>
            </a:endParaRPr>
          </a:p>
          <a:p>
            <a:endParaRPr lang="en-US" sz="2200" dirty="0">
              <a:solidFill>
                <a:srgbClr val="FFC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478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609601"/>
            <a:ext cx="10131425" cy="1033670"/>
          </a:xfrm>
        </p:spPr>
        <p:txBody>
          <a:bodyPr/>
          <a:lstStyle/>
          <a:p>
            <a:pPr algn="ctr"/>
            <a:r>
              <a:rPr lang="en-US" dirty="0"/>
              <a:t>LITERATURE SURVEY-2</a:t>
            </a:r>
          </a:p>
        </p:txBody>
      </p:sp>
      <p:sp>
        <p:nvSpPr>
          <p:cNvPr id="3" name="Content Placeholder 2"/>
          <p:cNvSpPr>
            <a:spLocks noGrp="1"/>
          </p:cNvSpPr>
          <p:nvPr>
            <p:ph idx="1"/>
          </p:nvPr>
        </p:nvSpPr>
        <p:spPr>
          <a:xfrm>
            <a:off x="685801" y="1643271"/>
            <a:ext cx="10131425" cy="4731025"/>
          </a:xfrm>
        </p:spPr>
        <p:txBody>
          <a:bodyPr>
            <a:normAutofit/>
          </a:bodyPr>
          <a:lstStyle/>
          <a:p>
            <a:r>
              <a:rPr lang="en-US" sz="2200" b="1" dirty="0">
                <a:latin typeface="Times New Roman" panose="02020603050405020304" pitchFamily="18" charset="0"/>
                <a:ea typeface="Tahoma" pitchFamily="34" charset="0"/>
                <a:cs typeface="Times New Roman" panose="02020603050405020304" pitchFamily="18" charset="0"/>
              </a:rPr>
              <a:t>“</a:t>
            </a:r>
            <a:r>
              <a:rPr lang="en-US" sz="2200" b="1" dirty="0">
                <a:solidFill>
                  <a:srgbClr val="FFC000"/>
                </a:solidFill>
                <a:latin typeface="Times New Roman" panose="02020603050405020304" pitchFamily="18" charset="0"/>
                <a:cs typeface="Times New Roman" panose="02020603050405020304" pitchFamily="18" charset="0"/>
              </a:rPr>
              <a:t>An Automatic Approach for Translating Simple Images into Text Descriptions and Speech for Visually Impaired People </a:t>
            </a:r>
            <a:r>
              <a:rPr lang="en-US" sz="2200" b="1" dirty="0">
                <a:latin typeface="Times New Roman" panose="02020603050405020304" pitchFamily="18" charset="0"/>
                <a:ea typeface="Tahoma" pitchFamily="34" charset="0"/>
                <a:cs typeface="Times New Roman" panose="02020603050405020304" pitchFamily="18" charset="0"/>
              </a:rPr>
              <a:t>”</a:t>
            </a:r>
            <a:r>
              <a:rPr lang="en-US" sz="2200" dirty="0">
                <a:latin typeface="Times New Roman" panose="02020603050405020304" pitchFamily="18" charset="0"/>
                <a:ea typeface="Tahoma" pitchFamily="34" charset="0"/>
                <a:cs typeface="Times New Roman" panose="02020603050405020304" pitchFamily="18" charset="0"/>
              </a:rPr>
              <a:t>,</a:t>
            </a:r>
            <a:r>
              <a:rPr lang="en-US" sz="2200" b="1" dirty="0">
                <a:latin typeface="Times New Roman" panose="02020603050405020304" pitchFamily="18" charset="0"/>
                <a:ea typeface="Tahoma" pitchFamily="34"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Mrunmayee</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Patil</a:t>
            </a:r>
            <a:r>
              <a:rPr lang="en-US" sz="2200" dirty="0">
                <a:latin typeface="Times New Roman" panose="02020603050405020304" pitchFamily="18" charset="0"/>
                <a:cs typeface="Times New Roman" panose="02020603050405020304" pitchFamily="18" charset="0"/>
              </a:rPr>
              <a:t>, Ramesh </a:t>
            </a:r>
            <a:r>
              <a:rPr lang="en-US" sz="2200" dirty="0" err="1">
                <a:latin typeface="Times New Roman" panose="02020603050405020304" pitchFamily="18" charset="0"/>
                <a:cs typeface="Times New Roman" panose="02020603050405020304" pitchFamily="18" charset="0"/>
              </a:rPr>
              <a:t>Kagalkar</a:t>
            </a:r>
            <a:r>
              <a:rPr lang="en-US" sz="220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ea typeface="Tahoma" pitchFamily="34" charset="0"/>
                <a:cs typeface="Times New Roman" panose="02020603050405020304" pitchFamily="18" charset="0"/>
              </a:rPr>
              <a:t>, </a:t>
            </a:r>
            <a:r>
              <a:rPr lang="en-US" sz="2200" i="1" dirty="0">
                <a:latin typeface="Times New Roman" panose="02020603050405020304" pitchFamily="18" charset="0"/>
                <a:ea typeface="Tahoma" pitchFamily="34" charset="0"/>
                <a:cs typeface="Times New Roman" panose="02020603050405020304" pitchFamily="18" charset="0"/>
              </a:rPr>
              <a:t>I</a:t>
            </a:r>
            <a:r>
              <a:rPr lang="en-US" sz="2200" i="1" dirty="0">
                <a:latin typeface="Times New Roman" panose="02020603050405020304" pitchFamily="18" charset="0"/>
                <a:cs typeface="Times New Roman" panose="02020603050405020304" pitchFamily="18" charset="0"/>
              </a:rPr>
              <a:t>nternational Journal of Computer Applications, </a:t>
            </a:r>
            <a:r>
              <a:rPr lang="en-US" sz="2200" dirty="0">
                <a:latin typeface="Times New Roman" panose="02020603050405020304" pitchFamily="18" charset="0"/>
                <a:cs typeface="Times New Roman" panose="02020603050405020304" pitchFamily="18" charset="0"/>
              </a:rPr>
              <a:t>Volume 118- May 2015.</a:t>
            </a:r>
            <a:endParaRPr lang="en-US" sz="2200" i="1" dirty="0">
              <a:latin typeface="Times New Roman" panose="02020603050405020304" pitchFamily="18" charset="0"/>
              <a:cs typeface="Times New Roman" panose="02020603050405020304" pitchFamily="18" charset="0"/>
            </a:endParaRPr>
          </a:p>
          <a:p>
            <a:pPr marL="0" indent="0">
              <a:buNone/>
            </a:pPr>
            <a:r>
              <a:rPr lang="en-US" sz="2200" dirty="0">
                <a:solidFill>
                  <a:srgbClr val="FFC000"/>
                </a:solidFill>
                <a:latin typeface="Times New Roman" panose="02020603050405020304" pitchFamily="18" charset="0"/>
                <a:cs typeface="Times New Roman" panose="02020603050405020304" pitchFamily="18" charset="0"/>
              </a:rPr>
              <a:t>MERITS:</a:t>
            </a:r>
          </a:p>
          <a:p>
            <a:r>
              <a:rPr lang="en-US" sz="2200" dirty="0">
                <a:latin typeface="Times New Roman" panose="02020603050405020304" pitchFamily="18" charset="0"/>
                <a:cs typeface="Times New Roman" panose="02020603050405020304" pitchFamily="18" charset="0"/>
              </a:rPr>
              <a:t>Helps blind and physically disabled people to know what is there in an Image.</a:t>
            </a:r>
          </a:p>
          <a:p>
            <a:pPr marL="0" indent="0">
              <a:buNone/>
            </a:pPr>
            <a:r>
              <a:rPr lang="en-US" sz="2200" dirty="0">
                <a:solidFill>
                  <a:srgbClr val="FFC000"/>
                </a:solidFill>
                <a:latin typeface="Times New Roman" panose="02020603050405020304" pitchFamily="18" charset="0"/>
                <a:ea typeface="Tahoma" pitchFamily="34" charset="0"/>
                <a:cs typeface="Times New Roman" panose="02020603050405020304" pitchFamily="18" charset="0"/>
              </a:rPr>
              <a:t>DEMERITS:</a:t>
            </a:r>
          </a:p>
          <a:p>
            <a:r>
              <a:rPr lang="en-US" sz="2200" dirty="0">
                <a:latin typeface="Times New Roman" panose="02020603050405020304" pitchFamily="18" charset="0"/>
                <a:cs typeface="Times New Roman" panose="02020603050405020304" pitchFamily="18" charset="0"/>
              </a:rPr>
              <a:t>It cannot convert Dynamic Images into its Textual description.</a:t>
            </a:r>
            <a:endParaRPr lang="en-US" sz="2200" dirty="0">
              <a:latin typeface="Times New Roman" panose="02020603050405020304" pitchFamily="18" charset="0"/>
              <a:ea typeface="Tahoma" pitchFamily="34" charset="0"/>
              <a:cs typeface="Times New Roman" panose="02020603050405020304" pitchFamily="18" charset="0"/>
            </a:endParaRPr>
          </a:p>
          <a:p>
            <a:endParaRPr lang="en-US" sz="2200" dirty="0">
              <a:latin typeface="Times New Roman" panose="02020603050405020304" pitchFamily="18" charset="0"/>
              <a:ea typeface="Tahoma" pitchFamily="34" charset="0"/>
              <a:cs typeface="Times New Roman" panose="02020603050405020304" pitchFamily="18" charset="0"/>
            </a:endParaRPr>
          </a:p>
          <a:p>
            <a:endParaRPr lang="en-US" sz="2200" dirty="0">
              <a:solidFill>
                <a:srgbClr val="FFC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22196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609600"/>
            <a:ext cx="10131425" cy="1515414"/>
          </a:xfrm>
        </p:spPr>
        <p:txBody>
          <a:bodyPr/>
          <a:lstStyle/>
          <a:p>
            <a:pPr algn="ctr"/>
            <a:r>
              <a:rPr lang="en-US" dirty="0"/>
              <a:t>LITERATURE SURVEY - 3</a:t>
            </a:r>
          </a:p>
        </p:txBody>
      </p:sp>
      <p:sp>
        <p:nvSpPr>
          <p:cNvPr id="3" name="Content Placeholder 2"/>
          <p:cNvSpPr>
            <a:spLocks noGrp="1"/>
          </p:cNvSpPr>
          <p:nvPr>
            <p:ph idx="1"/>
          </p:nvPr>
        </p:nvSpPr>
        <p:spPr/>
        <p:txBody>
          <a:bodyPr>
            <a:normAutofit/>
          </a:bodyPr>
          <a:lstStyle/>
          <a:p>
            <a:r>
              <a:rPr lang="en-US" sz="2200" b="1" dirty="0">
                <a:latin typeface="Times New Roman" panose="02020603050405020304" pitchFamily="18" charset="0"/>
                <a:ea typeface="Tahoma" pitchFamily="34" charset="0"/>
                <a:cs typeface="Times New Roman" pitchFamily="18" charset="0"/>
              </a:rPr>
              <a:t>“</a:t>
            </a:r>
            <a:r>
              <a:rPr lang="en-US" sz="2200" b="1" dirty="0">
                <a:solidFill>
                  <a:srgbClr val="FFC000"/>
                </a:solidFill>
                <a:latin typeface="Times New Roman" pitchFamily="18" charset="0"/>
                <a:cs typeface="Times New Roman" pitchFamily="18" charset="0"/>
              </a:rPr>
              <a:t>Multiple Bernoulli Relevance Models for Image and Video Annotation</a:t>
            </a:r>
            <a:r>
              <a:rPr lang="en-US" sz="2200" b="1" dirty="0">
                <a:latin typeface="Times New Roman" pitchFamily="18" charset="0"/>
                <a:ea typeface="Tahoma" pitchFamily="34" charset="0"/>
                <a:cs typeface="Times New Roman" pitchFamily="18" charset="0"/>
              </a:rPr>
              <a:t>“,   </a:t>
            </a:r>
            <a:r>
              <a:rPr lang="en-US" sz="2200" b="1" dirty="0">
                <a:solidFill>
                  <a:srgbClr val="FFC000"/>
                </a:solidFill>
                <a:latin typeface="Times New Roman" pitchFamily="18" charset="0"/>
                <a:ea typeface="Tahoma" pitchFamily="34" charset="0"/>
                <a:cs typeface="Times New Roman" pitchFamily="18" charset="0"/>
              </a:rPr>
              <a:t> </a:t>
            </a:r>
            <a:r>
              <a:rPr lang="en-US" sz="2200" dirty="0">
                <a:latin typeface="Times New Roman" pitchFamily="18" charset="0"/>
                <a:cs typeface="Times New Roman" pitchFamily="18" charset="0"/>
              </a:rPr>
              <a:t>S. L. Feng, R. </a:t>
            </a:r>
            <a:r>
              <a:rPr lang="en-US" sz="2200" dirty="0" err="1">
                <a:latin typeface="Times New Roman" pitchFamily="18" charset="0"/>
                <a:cs typeface="Times New Roman" pitchFamily="18" charset="0"/>
              </a:rPr>
              <a:t>Manmatha</a:t>
            </a:r>
            <a:r>
              <a:rPr lang="en-US" sz="2200" dirty="0">
                <a:latin typeface="Times New Roman" pitchFamily="18" charset="0"/>
                <a:cs typeface="Times New Roman" pitchFamily="18" charset="0"/>
              </a:rPr>
              <a:t> and V. </a:t>
            </a:r>
            <a:r>
              <a:rPr lang="en-US" sz="2200" dirty="0" err="1">
                <a:latin typeface="Times New Roman" pitchFamily="18" charset="0"/>
                <a:cs typeface="Times New Roman" pitchFamily="18" charset="0"/>
              </a:rPr>
              <a:t>Lavrenko</a:t>
            </a:r>
            <a:r>
              <a:rPr lang="en-US" sz="2200" dirty="0">
                <a:latin typeface="Times New Roman" pitchFamily="18" charset="0"/>
                <a:cs typeface="Times New Roman" pitchFamily="18" charset="0"/>
              </a:rPr>
              <a:t>,  Multimedia Indexing and Retrieval Group Center for Intelligent Information Retrieval.</a:t>
            </a:r>
          </a:p>
          <a:p>
            <a:pPr marL="0" indent="0">
              <a:buNone/>
            </a:pPr>
            <a:r>
              <a:rPr lang="en-US" sz="2200" dirty="0">
                <a:solidFill>
                  <a:srgbClr val="FFC000"/>
                </a:solidFill>
                <a:latin typeface="Times New Roman" panose="02020603050405020304" pitchFamily="18" charset="0"/>
                <a:ea typeface="Tahoma" pitchFamily="34" charset="0"/>
                <a:cs typeface="Times New Roman" panose="02020603050405020304" pitchFamily="18" charset="0"/>
              </a:rPr>
              <a:t>MERITS:</a:t>
            </a:r>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The process of a human annotating images.</a:t>
            </a:r>
          </a:p>
          <a:p>
            <a:pPr marL="0" indent="0">
              <a:buNone/>
            </a:pPr>
            <a:r>
              <a:rPr lang="en-US" sz="2200" dirty="0">
                <a:solidFill>
                  <a:srgbClr val="FFC000"/>
                </a:solidFill>
                <a:latin typeface="Times New Roman" panose="02020603050405020304" pitchFamily="18" charset="0"/>
                <a:cs typeface="Times New Roman" panose="02020603050405020304" pitchFamily="18" charset="0"/>
              </a:rPr>
              <a:t>DEMERITS:</a:t>
            </a:r>
          </a:p>
          <a:p>
            <a:r>
              <a:rPr lang="en-US" sz="2200" dirty="0">
                <a:latin typeface="Times New Roman" panose="02020603050405020304" pitchFamily="18" charset="0"/>
                <a:ea typeface="Tahoma" pitchFamily="34" charset="0"/>
                <a:cs typeface="Times New Roman" panose="02020603050405020304" pitchFamily="18" charset="0"/>
              </a:rPr>
              <a:t>No</a:t>
            </a:r>
            <a:r>
              <a:rPr lang="en-US" sz="2200" dirty="0">
                <a:solidFill>
                  <a:srgbClr val="FFC000"/>
                </a:solidFill>
                <a:latin typeface="Times New Roman" panose="02020603050405020304" pitchFamily="18" charset="0"/>
                <a:ea typeface="Tahoma" pitchFamily="34" charset="0"/>
                <a:cs typeface="Times New Roman" panose="02020603050405020304" pitchFamily="18" charset="0"/>
              </a:rPr>
              <a:t> </a:t>
            </a:r>
            <a:r>
              <a:rPr lang="en-US" sz="2200" dirty="0">
                <a:latin typeface="Times New Roman" pitchFamily="18" charset="0"/>
                <a:cs typeface="Times New Roman" pitchFamily="18" charset="0"/>
              </a:rPr>
              <a:t>extensive retrieval task with this model</a:t>
            </a:r>
          </a:p>
        </p:txBody>
      </p:sp>
    </p:spTree>
    <p:extLst>
      <p:ext uri="{BB962C8B-B14F-4D97-AF65-F5344CB8AC3E}">
        <p14:creationId xmlns:p14="http://schemas.microsoft.com/office/powerpoint/2010/main" val="1661922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0043" y="944451"/>
            <a:ext cx="10131425" cy="1456267"/>
          </a:xfrm>
        </p:spPr>
        <p:txBody>
          <a:bodyPr/>
          <a:lstStyle/>
          <a:p>
            <a:pPr algn="ctr"/>
            <a:r>
              <a:rPr lang="en-US" dirty="0"/>
              <a:t>LITERATURE SURVEY - 4</a:t>
            </a:r>
          </a:p>
        </p:txBody>
      </p:sp>
      <p:sp>
        <p:nvSpPr>
          <p:cNvPr id="3" name="Content Placeholder 2"/>
          <p:cNvSpPr>
            <a:spLocks noGrp="1"/>
          </p:cNvSpPr>
          <p:nvPr>
            <p:ph idx="1"/>
          </p:nvPr>
        </p:nvSpPr>
        <p:spPr/>
        <p:txBody>
          <a:bodyPr>
            <a:normAutofit/>
          </a:bodyPr>
          <a:lstStyle/>
          <a:p>
            <a:r>
              <a:rPr lang="en-US" sz="2200" b="1" dirty="0">
                <a:latin typeface="Times New Roman" pitchFamily="18" charset="0"/>
                <a:ea typeface="Tahoma" pitchFamily="34" charset="0"/>
                <a:cs typeface="Times New Roman" pitchFamily="18" charset="0"/>
              </a:rPr>
              <a:t>“</a:t>
            </a:r>
            <a:r>
              <a:rPr lang="en-US" sz="2200" b="1" dirty="0">
                <a:solidFill>
                  <a:srgbClr val="FFC000"/>
                </a:solidFill>
                <a:latin typeface="Times New Roman" pitchFamily="18" charset="0"/>
                <a:cs typeface="Times New Roman" pitchFamily="18" charset="0"/>
              </a:rPr>
              <a:t>A survey on automatic image annotation and trends of the new age</a:t>
            </a:r>
            <a:r>
              <a:rPr lang="en-US" sz="2200" b="1" dirty="0">
                <a:solidFill>
                  <a:srgbClr val="FFC000"/>
                </a:solidFill>
                <a:latin typeface="Times New Roman" pitchFamily="18" charset="0"/>
                <a:ea typeface="Tahoma" pitchFamily="34" charset="0"/>
                <a:cs typeface="Times New Roman" pitchFamily="18" charset="0"/>
              </a:rPr>
              <a:t> </a:t>
            </a:r>
            <a:r>
              <a:rPr lang="en-US" sz="2200" b="1" dirty="0">
                <a:latin typeface="Times New Roman" pitchFamily="18" charset="0"/>
                <a:ea typeface="Tahoma" pitchFamily="34" charset="0"/>
                <a:cs typeface="Times New Roman" pitchFamily="18" charset="0"/>
              </a:rPr>
              <a:t>“,</a:t>
            </a:r>
            <a:r>
              <a:rPr lang="en-US" sz="2200" b="1" dirty="0">
                <a:solidFill>
                  <a:srgbClr val="FFC000"/>
                </a:solidFill>
                <a:latin typeface="Times New Roman" pitchFamily="18" charset="0"/>
                <a:ea typeface="Tahoma" pitchFamily="34" charset="0"/>
                <a:cs typeface="Times New Roman" pitchFamily="18" charset="0"/>
              </a:rPr>
              <a:t> </a:t>
            </a:r>
            <a:r>
              <a:rPr lang="en-US" sz="2200" dirty="0" err="1">
                <a:latin typeface="Times New Roman" pitchFamily="18" charset="0"/>
                <a:cs typeface="Times New Roman" pitchFamily="18" charset="0"/>
              </a:rPr>
              <a:t>Feichao</a:t>
            </a:r>
            <a:r>
              <a:rPr lang="en-US" sz="2200" dirty="0">
                <a:latin typeface="Times New Roman" pitchFamily="18" charset="0"/>
                <a:cs typeface="Times New Roman" pitchFamily="18" charset="0"/>
              </a:rPr>
              <a:t> Wang</a:t>
            </a:r>
            <a:r>
              <a:rPr lang="en-US" sz="2200" dirty="0">
                <a:latin typeface="Times New Roman" panose="02020603050405020304" pitchFamily="18" charset="0"/>
                <a:ea typeface="Tahoma" pitchFamily="34" charset="0"/>
                <a:cs typeface="Times New Roman" panose="02020603050405020304" pitchFamily="18" charset="0"/>
              </a:rPr>
              <a:t>, </a:t>
            </a:r>
            <a:r>
              <a:rPr lang="en-US" sz="2200" dirty="0">
                <a:latin typeface="Times New Roman" pitchFamily="18" charset="0"/>
                <a:cs typeface="Times New Roman" pitchFamily="18" charset="0"/>
              </a:rPr>
              <a:t>Procedia Engineering,2011.</a:t>
            </a:r>
            <a:endParaRPr lang="en-US" sz="2200" i="1" dirty="0">
              <a:latin typeface="Times New Roman" panose="02020603050405020304" pitchFamily="18" charset="0"/>
              <a:ea typeface="Tahoma" pitchFamily="34" charset="0"/>
              <a:cs typeface="Times New Roman" panose="02020603050405020304" pitchFamily="18" charset="0"/>
            </a:endParaRPr>
          </a:p>
          <a:p>
            <a:pPr marL="0" indent="0" defTabSz="914400">
              <a:spcAft>
                <a:spcPts val="0"/>
              </a:spcAft>
              <a:buClrTx/>
              <a:buSzTx/>
              <a:buNone/>
              <a:defRPr/>
            </a:pPr>
            <a:r>
              <a:rPr lang="en-US" sz="2200" dirty="0">
                <a:solidFill>
                  <a:srgbClr val="FFC000"/>
                </a:solidFill>
                <a:latin typeface="Times New Roman" panose="02020603050405020304" pitchFamily="18" charset="0"/>
                <a:ea typeface="Tahoma" pitchFamily="34" charset="0"/>
                <a:cs typeface="Times New Roman" panose="02020603050405020304" pitchFamily="18" charset="0"/>
              </a:rPr>
              <a:t>MERITS:</a:t>
            </a:r>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Automatically annotate large amount of Images.</a:t>
            </a:r>
          </a:p>
          <a:p>
            <a:pPr marL="0" indent="0">
              <a:buNone/>
            </a:pPr>
            <a:r>
              <a:rPr lang="en-US" sz="2200" dirty="0">
                <a:solidFill>
                  <a:srgbClr val="FFC000"/>
                </a:solidFill>
                <a:latin typeface="Times New Roman" panose="02020603050405020304" pitchFamily="18" charset="0"/>
                <a:cs typeface="Times New Roman" panose="02020603050405020304" pitchFamily="18" charset="0"/>
              </a:rPr>
              <a:t>DEMERITS:</a:t>
            </a:r>
          </a:p>
          <a:p>
            <a:r>
              <a:rPr lang="en-US" sz="2200" dirty="0">
                <a:latin typeface="Times New Roman" pitchFamily="18" charset="0"/>
                <a:cs typeface="Times New Roman" pitchFamily="18" charset="0"/>
              </a:rPr>
              <a:t>Time complexity and space complexity are always high</a:t>
            </a:r>
            <a:endParaRPr lang="en-US" sz="2200" dirty="0"/>
          </a:p>
        </p:txBody>
      </p:sp>
    </p:spTree>
    <p:extLst>
      <p:ext uri="{BB962C8B-B14F-4D97-AF65-F5344CB8AC3E}">
        <p14:creationId xmlns:p14="http://schemas.microsoft.com/office/powerpoint/2010/main" val="28767649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LITERATURE SURVEY - 5</a:t>
            </a:r>
          </a:p>
        </p:txBody>
      </p:sp>
      <p:sp>
        <p:nvSpPr>
          <p:cNvPr id="3" name="Content Placeholder 2"/>
          <p:cNvSpPr>
            <a:spLocks noGrp="1"/>
          </p:cNvSpPr>
          <p:nvPr>
            <p:ph idx="1"/>
          </p:nvPr>
        </p:nvSpPr>
        <p:spPr/>
        <p:txBody>
          <a:bodyPr>
            <a:normAutofit/>
          </a:bodyPr>
          <a:lstStyle/>
          <a:p>
            <a:r>
              <a:rPr lang="en-US" sz="2200" b="1" dirty="0">
                <a:latin typeface="Times New Roman" pitchFamily="18" charset="0"/>
                <a:ea typeface="Tahoma" pitchFamily="34" charset="0"/>
                <a:cs typeface="Times New Roman" pitchFamily="18" charset="0"/>
              </a:rPr>
              <a:t>“</a:t>
            </a:r>
            <a:r>
              <a:rPr lang="en-US" sz="2200" b="1" dirty="0">
                <a:solidFill>
                  <a:srgbClr val="FFC000"/>
                </a:solidFill>
                <a:latin typeface="Times New Roman" pitchFamily="18" charset="0"/>
                <a:cs typeface="Times New Roman" pitchFamily="18" charset="0"/>
              </a:rPr>
              <a:t>PLSA based Image Auto Annotation: Constraining the Latent Space</a:t>
            </a:r>
            <a:r>
              <a:rPr lang="en-US" sz="2200" b="1" dirty="0">
                <a:latin typeface="Times New Roman" pitchFamily="18" charset="0"/>
                <a:ea typeface="Tahoma" pitchFamily="34" charset="0"/>
                <a:cs typeface="Times New Roman" pitchFamily="18" charset="0"/>
              </a:rPr>
              <a:t>“,</a:t>
            </a:r>
            <a:r>
              <a:rPr lang="en-US" sz="2200" b="1" dirty="0">
                <a:solidFill>
                  <a:srgbClr val="FFC000"/>
                </a:solidFill>
                <a:latin typeface="Times New Roman" pitchFamily="18" charset="0"/>
                <a:ea typeface="Tahoma" pitchFamily="34" charset="0"/>
                <a:cs typeface="Times New Roman" pitchFamily="18" charset="0"/>
              </a:rPr>
              <a:t> </a:t>
            </a:r>
            <a:r>
              <a:rPr lang="en-US" sz="2200" dirty="0" err="1">
                <a:latin typeface="Times New Roman" pitchFamily="18" charset="0"/>
                <a:cs typeface="Times New Roman" pitchFamily="18" charset="0"/>
              </a:rPr>
              <a:t>Florent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Monay</a:t>
            </a:r>
            <a:r>
              <a:rPr lang="en-US" sz="2200" dirty="0">
                <a:latin typeface="Times New Roman" pitchFamily="18" charset="0"/>
                <a:cs typeface="Times New Roman" pitchFamily="18" charset="0"/>
              </a:rPr>
              <a:t>, Daniel </a:t>
            </a:r>
            <a:r>
              <a:rPr lang="en-US" sz="2200" dirty="0" err="1">
                <a:latin typeface="Times New Roman" pitchFamily="18" charset="0"/>
                <a:cs typeface="Times New Roman" pitchFamily="18" charset="0"/>
              </a:rPr>
              <a:t>GaticaPerez</a:t>
            </a:r>
            <a:r>
              <a:rPr lang="en-US" sz="2200" dirty="0">
                <a:latin typeface="Times New Roman" panose="02020603050405020304" pitchFamily="18" charset="0"/>
                <a:ea typeface="Tahoma" pitchFamily="34" charset="0"/>
                <a:cs typeface="Times New Roman" panose="02020603050405020304" pitchFamily="18" charset="0"/>
              </a:rPr>
              <a:t>, </a:t>
            </a:r>
            <a:r>
              <a:rPr lang="en-US" sz="2200" dirty="0">
                <a:latin typeface="Times New Roman" pitchFamily="18" charset="0"/>
                <a:cs typeface="Times New Roman" pitchFamily="18" charset="0"/>
              </a:rPr>
              <a:t>IDIAP Research Institute.</a:t>
            </a:r>
            <a:endParaRPr lang="en-US" sz="2200" i="1" dirty="0">
              <a:latin typeface="Times New Roman" panose="02020603050405020304" pitchFamily="18" charset="0"/>
              <a:ea typeface="Tahoma" pitchFamily="34" charset="0"/>
              <a:cs typeface="Times New Roman" panose="02020603050405020304" pitchFamily="18" charset="0"/>
            </a:endParaRPr>
          </a:p>
          <a:p>
            <a:pPr marL="0" indent="0" defTabSz="914400">
              <a:spcAft>
                <a:spcPts val="0"/>
              </a:spcAft>
              <a:buClrTx/>
              <a:buSzTx/>
              <a:buNone/>
              <a:defRPr/>
            </a:pPr>
            <a:r>
              <a:rPr lang="en-US" sz="2200" dirty="0">
                <a:solidFill>
                  <a:srgbClr val="FFC000"/>
                </a:solidFill>
                <a:latin typeface="Times New Roman" panose="02020603050405020304" pitchFamily="18" charset="0"/>
                <a:ea typeface="Tahoma" pitchFamily="34" charset="0"/>
                <a:cs typeface="Times New Roman" panose="02020603050405020304" pitchFamily="18" charset="0"/>
              </a:rPr>
              <a:t>MERITS:</a:t>
            </a:r>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PLSA-based image auto-annotation system, which uses two linked PLSA models to represent the textual and visual modalities of an annotated image.</a:t>
            </a:r>
          </a:p>
          <a:p>
            <a:pPr marL="0" indent="0">
              <a:buNone/>
            </a:pPr>
            <a:r>
              <a:rPr lang="en-US" sz="2200" dirty="0">
                <a:solidFill>
                  <a:srgbClr val="FFC000"/>
                </a:solidFill>
                <a:latin typeface="Times New Roman" panose="02020603050405020304" pitchFamily="18" charset="0"/>
                <a:cs typeface="Times New Roman" panose="02020603050405020304" pitchFamily="18" charset="0"/>
              </a:rPr>
              <a:t>DEMERITS:</a:t>
            </a:r>
          </a:p>
          <a:p>
            <a:r>
              <a:rPr lang="en-US" sz="2200" dirty="0">
                <a:latin typeface="Times New Roman" pitchFamily="18" charset="0"/>
                <a:cs typeface="Times New Roman" pitchFamily="18" charset="0"/>
              </a:rPr>
              <a:t>No annotation accuracy measures.</a:t>
            </a:r>
            <a:endParaRPr lang="en-US" sz="2200" dirty="0"/>
          </a:p>
        </p:txBody>
      </p:sp>
    </p:spTree>
    <p:extLst>
      <p:ext uri="{BB962C8B-B14F-4D97-AF65-F5344CB8AC3E}">
        <p14:creationId xmlns:p14="http://schemas.microsoft.com/office/powerpoint/2010/main" val="37217998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LITERATURE SURVEY - 6</a:t>
            </a:r>
          </a:p>
        </p:txBody>
      </p:sp>
      <p:sp>
        <p:nvSpPr>
          <p:cNvPr id="3" name="Content Placeholder 2"/>
          <p:cNvSpPr>
            <a:spLocks noGrp="1"/>
          </p:cNvSpPr>
          <p:nvPr>
            <p:ph idx="1"/>
          </p:nvPr>
        </p:nvSpPr>
        <p:spPr/>
        <p:txBody>
          <a:bodyPr>
            <a:noAutofit/>
          </a:bodyPr>
          <a:lstStyle/>
          <a:p>
            <a:r>
              <a:rPr lang="en-US" sz="2200" b="1" dirty="0">
                <a:latin typeface="Times New Roman" pitchFamily="18" charset="0"/>
                <a:ea typeface="Tahoma" pitchFamily="34" charset="0"/>
                <a:cs typeface="Times New Roman" pitchFamily="18" charset="0"/>
              </a:rPr>
              <a:t>“</a:t>
            </a:r>
            <a:r>
              <a:rPr lang="en-US" sz="2200" b="1" dirty="0">
                <a:solidFill>
                  <a:srgbClr val="FFC000"/>
                </a:solidFill>
                <a:latin typeface="Times New Roman" pitchFamily="18" charset="0"/>
                <a:cs typeface="Times New Roman" pitchFamily="18" charset="0"/>
              </a:rPr>
              <a:t>A Model for Learning the Semantics of Pictures</a:t>
            </a:r>
            <a:r>
              <a:rPr lang="en-US" sz="2200" b="1" dirty="0">
                <a:latin typeface="Times New Roman" pitchFamily="18" charset="0"/>
                <a:ea typeface="Tahoma" pitchFamily="34" charset="0"/>
                <a:cs typeface="Times New Roman" pitchFamily="18" charset="0"/>
              </a:rPr>
              <a:t>“,</a:t>
            </a:r>
            <a:r>
              <a:rPr lang="en-US" sz="2200" b="1" dirty="0">
                <a:solidFill>
                  <a:srgbClr val="FFC000"/>
                </a:solidFill>
                <a:latin typeface="Times New Roman" pitchFamily="18" charset="0"/>
                <a:ea typeface="Tahoma" pitchFamily="34" charset="0"/>
                <a:cs typeface="Times New Roman" pitchFamily="18" charset="0"/>
              </a:rPr>
              <a:t> </a:t>
            </a:r>
            <a:r>
              <a:rPr lang="fi-FI" sz="2200" b="1" dirty="0">
                <a:latin typeface="Times New Roman" pitchFamily="18" charset="0"/>
                <a:cs typeface="Times New Roman" pitchFamily="18" charset="0"/>
              </a:rPr>
              <a:t>V. Lavrenko, R. Manmatha, J. Jeon</a:t>
            </a:r>
            <a:r>
              <a:rPr lang="en-US" sz="2200" dirty="0">
                <a:latin typeface="Times New Roman" panose="02020603050405020304" pitchFamily="18" charset="0"/>
                <a:ea typeface="Tahoma" pitchFamily="34" charset="0"/>
                <a:cs typeface="Times New Roman" panose="02020603050405020304" pitchFamily="18" charset="0"/>
              </a:rPr>
              <a:t>, </a:t>
            </a:r>
            <a:r>
              <a:rPr lang="en-US" sz="2200" dirty="0">
                <a:latin typeface="Times New Roman" pitchFamily="18" charset="0"/>
                <a:cs typeface="Times New Roman" pitchFamily="18" charset="0"/>
              </a:rPr>
              <a:t>Center for Intelligent Information Retrieval Computer Science Department.</a:t>
            </a:r>
            <a:endParaRPr lang="en-US" sz="2200" i="1" dirty="0">
              <a:latin typeface="Times New Roman" panose="02020603050405020304" pitchFamily="18" charset="0"/>
              <a:ea typeface="Tahoma" pitchFamily="34" charset="0"/>
              <a:cs typeface="Times New Roman" panose="02020603050405020304" pitchFamily="18" charset="0"/>
            </a:endParaRPr>
          </a:p>
          <a:p>
            <a:pPr marL="0" indent="0" defTabSz="914400">
              <a:spcAft>
                <a:spcPts val="0"/>
              </a:spcAft>
              <a:buClrTx/>
              <a:buSzTx/>
              <a:buNone/>
              <a:defRPr/>
            </a:pPr>
            <a:r>
              <a:rPr lang="en-US" sz="2200" dirty="0">
                <a:solidFill>
                  <a:srgbClr val="FFC000"/>
                </a:solidFill>
                <a:latin typeface="Times New Roman" panose="02020603050405020304" pitchFamily="18" charset="0"/>
                <a:ea typeface="Tahoma" pitchFamily="34" charset="0"/>
                <a:cs typeface="Times New Roman" panose="02020603050405020304" pitchFamily="18" charset="0"/>
              </a:rPr>
              <a:t>MERITS:</a:t>
            </a:r>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Significantly better than a number of other models for image annotation and retrieval.</a:t>
            </a:r>
          </a:p>
          <a:p>
            <a:pPr marL="0" indent="0">
              <a:buNone/>
            </a:pPr>
            <a:r>
              <a:rPr lang="en-US" sz="2200" dirty="0">
                <a:solidFill>
                  <a:srgbClr val="FFC000"/>
                </a:solidFill>
                <a:latin typeface="Times New Roman" panose="02020603050405020304" pitchFamily="18" charset="0"/>
                <a:cs typeface="Times New Roman" panose="02020603050405020304" pitchFamily="18" charset="0"/>
              </a:rPr>
              <a:t>DEMERITS:</a:t>
            </a:r>
          </a:p>
          <a:p>
            <a:r>
              <a:rPr lang="en-US" sz="2200" dirty="0">
                <a:latin typeface="Times New Roman" pitchFamily="18" charset="0"/>
                <a:cs typeface="Times New Roman" pitchFamily="18" charset="0"/>
              </a:rPr>
              <a:t>Need better coverage and an evaluation of how such algorithms extend to large data sets.</a:t>
            </a:r>
            <a:endParaRPr lang="en-US" sz="2200" dirty="0">
              <a:latin typeface="Times New Roman" panose="02020603050405020304" pitchFamily="18" charset="0"/>
              <a:ea typeface="Tahoma" pitchFamily="34" charset="0"/>
              <a:cs typeface="Times New Roman" panose="02020603050405020304" pitchFamily="18" charset="0"/>
            </a:endParaRPr>
          </a:p>
          <a:p>
            <a:endParaRPr lang="en-US" sz="2200" dirty="0"/>
          </a:p>
        </p:txBody>
      </p:sp>
    </p:spTree>
    <p:extLst>
      <p:ext uri="{BB962C8B-B14F-4D97-AF65-F5344CB8AC3E}">
        <p14:creationId xmlns:p14="http://schemas.microsoft.com/office/powerpoint/2010/main" val="30319263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LITERATURE SURVEY - 7</a:t>
            </a:r>
          </a:p>
        </p:txBody>
      </p:sp>
      <p:sp>
        <p:nvSpPr>
          <p:cNvPr id="3" name="Content Placeholder 2"/>
          <p:cNvSpPr>
            <a:spLocks noGrp="1"/>
          </p:cNvSpPr>
          <p:nvPr>
            <p:ph idx="1"/>
          </p:nvPr>
        </p:nvSpPr>
        <p:spPr/>
        <p:txBody>
          <a:bodyPr>
            <a:normAutofit/>
          </a:bodyPr>
          <a:lstStyle/>
          <a:p>
            <a:r>
              <a:rPr lang="en-US" sz="2200" b="1" dirty="0">
                <a:latin typeface="Times New Roman" pitchFamily="18" charset="0"/>
                <a:ea typeface="Tahoma" pitchFamily="34" charset="0"/>
                <a:cs typeface="Times New Roman" pitchFamily="18" charset="0"/>
              </a:rPr>
              <a:t>“</a:t>
            </a:r>
            <a:r>
              <a:rPr lang="en-US" sz="2200" b="1" dirty="0">
                <a:solidFill>
                  <a:srgbClr val="FFC000"/>
                </a:solidFill>
                <a:latin typeface="Times New Roman" pitchFamily="18" charset="0"/>
                <a:cs typeface="Times New Roman" pitchFamily="18" charset="0"/>
              </a:rPr>
              <a:t>Automatic Image Annotation and Retrieval using </a:t>
            </a:r>
            <a:r>
              <a:rPr lang="en-US" sz="2200" b="1" dirty="0" err="1">
                <a:solidFill>
                  <a:srgbClr val="FFC000"/>
                </a:solidFill>
                <a:latin typeface="Times New Roman" pitchFamily="18" charset="0"/>
                <a:cs typeface="Times New Roman" pitchFamily="18" charset="0"/>
              </a:rPr>
              <a:t>CrossMedia</a:t>
            </a:r>
            <a:r>
              <a:rPr lang="en-US" sz="2200" b="1" dirty="0">
                <a:solidFill>
                  <a:srgbClr val="FFC000"/>
                </a:solidFill>
                <a:latin typeface="Times New Roman" pitchFamily="18" charset="0"/>
                <a:cs typeface="Times New Roman" pitchFamily="18" charset="0"/>
              </a:rPr>
              <a:t> Relevance Models</a:t>
            </a:r>
            <a:r>
              <a:rPr lang="en-US" sz="2200" b="1" dirty="0">
                <a:latin typeface="Times New Roman" pitchFamily="18" charset="0"/>
                <a:ea typeface="Tahoma" pitchFamily="34" charset="0"/>
                <a:cs typeface="Times New Roman" pitchFamily="18" charset="0"/>
              </a:rPr>
              <a:t>“,</a:t>
            </a:r>
            <a:r>
              <a:rPr lang="en-US" sz="2200" b="1" dirty="0">
                <a:solidFill>
                  <a:srgbClr val="FFC000"/>
                </a:solidFill>
                <a:latin typeface="Times New Roman" pitchFamily="18" charset="0"/>
                <a:ea typeface="Tahoma" pitchFamily="34" charset="0"/>
                <a:cs typeface="Times New Roman" pitchFamily="18" charset="0"/>
              </a:rPr>
              <a:t> </a:t>
            </a:r>
            <a:r>
              <a:rPr lang="en-US" sz="2200" dirty="0">
                <a:latin typeface="Times New Roman" pitchFamily="18" charset="0"/>
                <a:cs typeface="Times New Roman" pitchFamily="18" charset="0"/>
              </a:rPr>
              <a:t>J. Jeon, V. </a:t>
            </a:r>
            <a:r>
              <a:rPr lang="en-US" sz="2200" dirty="0" err="1">
                <a:latin typeface="Times New Roman" pitchFamily="18" charset="0"/>
                <a:cs typeface="Times New Roman" pitchFamily="18" charset="0"/>
              </a:rPr>
              <a:t>Lavrenko</a:t>
            </a:r>
            <a:r>
              <a:rPr lang="en-US" sz="2200" dirty="0">
                <a:latin typeface="Times New Roman" pitchFamily="18" charset="0"/>
                <a:cs typeface="Times New Roman" pitchFamily="18" charset="0"/>
              </a:rPr>
              <a:t> and R. </a:t>
            </a:r>
            <a:r>
              <a:rPr lang="en-US" sz="2200" dirty="0" err="1">
                <a:latin typeface="Times New Roman" pitchFamily="18" charset="0"/>
                <a:cs typeface="Times New Roman" pitchFamily="18" charset="0"/>
              </a:rPr>
              <a:t>Manmatha</a:t>
            </a:r>
            <a:r>
              <a:rPr lang="en-US" sz="2200" dirty="0">
                <a:latin typeface="Times New Roman" panose="02020603050405020304" pitchFamily="18" charset="0"/>
                <a:ea typeface="Tahoma" pitchFamily="34" charset="0"/>
                <a:cs typeface="Times New Roman" panose="02020603050405020304" pitchFamily="18" charset="0"/>
              </a:rPr>
              <a:t>, </a:t>
            </a:r>
            <a:r>
              <a:rPr lang="en-US" sz="2200" dirty="0">
                <a:latin typeface="Times New Roman" pitchFamily="18" charset="0"/>
                <a:cs typeface="Times New Roman" pitchFamily="18" charset="0"/>
              </a:rPr>
              <a:t>Center for Intelligent Information Retrieval Computer Science Department.</a:t>
            </a:r>
            <a:endParaRPr lang="en-US" sz="2200" i="1" dirty="0">
              <a:latin typeface="Times New Roman" panose="02020603050405020304" pitchFamily="18" charset="0"/>
              <a:ea typeface="Tahoma" pitchFamily="34" charset="0"/>
              <a:cs typeface="Times New Roman" panose="02020603050405020304" pitchFamily="18" charset="0"/>
            </a:endParaRPr>
          </a:p>
          <a:p>
            <a:pPr marL="0" indent="0" defTabSz="914400">
              <a:spcAft>
                <a:spcPts val="0"/>
              </a:spcAft>
              <a:buClrTx/>
              <a:buSzTx/>
              <a:buNone/>
              <a:defRPr/>
            </a:pPr>
            <a:r>
              <a:rPr lang="en-US" sz="2200" dirty="0">
                <a:solidFill>
                  <a:srgbClr val="FFC000"/>
                </a:solidFill>
                <a:latin typeface="Times New Roman" panose="02020603050405020304" pitchFamily="18" charset="0"/>
                <a:ea typeface="Tahoma" pitchFamily="34" charset="0"/>
                <a:cs typeface="Times New Roman" panose="02020603050405020304" pitchFamily="18" charset="0"/>
              </a:rPr>
              <a:t>MERITS:</a:t>
            </a:r>
            <a:endParaRPr lang="en-US" sz="2200" dirty="0">
              <a:latin typeface="Times New Roman" pitchFamily="18" charset="0"/>
              <a:cs typeface="Times New Roman" pitchFamily="18" charset="0"/>
            </a:endParaRPr>
          </a:p>
          <a:p>
            <a:r>
              <a:rPr lang="en-US" sz="2200" dirty="0">
                <a:latin typeface="Times New Roman" pitchFamily="18" charset="0"/>
                <a:cs typeface="Times New Roman" pitchFamily="18" charset="0"/>
              </a:rPr>
              <a:t>Cross-Media Relevance Models are a good choice for annotating and retrieving images.</a:t>
            </a:r>
          </a:p>
          <a:p>
            <a:pPr marL="0" indent="0">
              <a:buNone/>
            </a:pPr>
            <a:r>
              <a:rPr lang="en-US" sz="2200" dirty="0">
                <a:solidFill>
                  <a:srgbClr val="FFC000"/>
                </a:solidFill>
                <a:latin typeface="Times New Roman" pitchFamily="18" charset="0"/>
                <a:cs typeface="Times New Roman" pitchFamily="18" charset="0"/>
              </a:rPr>
              <a:t>DEMERITS:</a:t>
            </a:r>
          </a:p>
          <a:p>
            <a:r>
              <a:rPr lang="en-US" sz="2200" dirty="0">
                <a:latin typeface="Times New Roman" pitchFamily="18" charset="0"/>
                <a:cs typeface="Times New Roman" pitchFamily="18" charset="0"/>
              </a:rPr>
              <a:t>Performance and evaluation is needed.</a:t>
            </a:r>
            <a:endParaRPr lang="en-US" sz="2200" dirty="0">
              <a:latin typeface="Times New Roman" panose="02020603050405020304" pitchFamily="18" charset="0"/>
              <a:ea typeface="Tahoma" pitchFamily="34" charset="0"/>
              <a:cs typeface="Times New Roman" panose="02020603050405020304" pitchFamily="18" charset="0"/>
            </a:endParaRPr>
          </a:p>
          <a:p>
            <a:endParaRPr lang="en-US" sz="2200" dirty="0"/>
          </a:p>
        </p:txBody>
      </p:sp>
    </p:spTree>
    <p:extLst>
      <p:ext uri="{BB962C8B-B14F-4D97-AF65-F5344CB8AC3E}">
        <p14:creationId xmlns:p14="http://schemas.microsoft.com/office/powerpoint/2010/main" val="21523397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PROPOSED SYSTEM</a:t>
            </a:r>
          </a:p>
        </p:txBody>
      </p:sp>
      <p:sp>
        <p:nvSpPr>
          <p:cNvPr id="3" name="Content Placeholder 2"/>
          <p:cNvSpPr>
            <a:spLocks noGrp="1"/>
          </p:cNvSpPr>
          <p:nvPr>
            <p:ph idx="1"/>
          </p:nvPr>
        </p:nvSpPr>
        <p:spPr/>
        <p:txBody>
          <a:bodyPr>
            <a:normAutofit/>
          </a:bodyPr>
          <a:lstStyle/>
          <a:p>
            <a:r>
              <a:rPr lang="en-US" sz="2200" dirty="0">
                <a:latin typeface="Times New Roman" panose="02020603050405020304" pitchFamily="18" charset="0"/>
                <a:cs typeface="Times New Roman" panose="02020603050405020304" pitchFamily="18" charset="0"/>
              </a:rPr>
              <a:t>To semantically understand a given image and to convert into its Textual Description, by using </a:t>
            </a:r>
            <a:r>
              <a:rPr lang="en-US" sz="2200" dirty="0">
                <a:solidFill>
                  <a:srgbClr val="FFC000"/>
                </a:solidFill>
                <a:latin typeface="Times New Roman" panose="02020603050405020304" pitchFamily="18" charset="0"/>
                <a:cs typeface="Times New Roman" panose="02020603050405020304" pitchFamily="18" charset="0"/>
              </a:rPr>
              <a:t>Multi-Label (ML)</a:t>
            </a:r>
            <a:r>
              <a:rPr lang="en-US" sz="2200" dirty="0">
                <a:latin typeface="Times New Roman" panose="02020603050405020304" pitchFamily="18" charset="0"/>
                <a:cs typeface="Times New Roman" panose="02020603050405020304" pitchFamily="18" charset="0"/>
              </a:rPr>
              <a:t>Annotation.</a:t>
            </a:r>
          </a:p>
          <a:p>
            <a:r>
              <a:rPr lang="en-US" sz="2200" dirty="0">
                <a:latin typeface="Times New Roman" panose="02020603050405020304" pitchFamily="18" charset="0"/>
                <a:cs typeface="Times New Roman" panose="02020603050405020304" pitchFamily="18" charset="0"/>
              </a:rPr>
              <a:t>The overall system is intended </a:t>
            </a:r>
          </a:p>
          <a:p>
            <a:pPr lvl="1">
              <a:buFont typeface="Times New Roman" panose="02020603050405020304" pitchFamily="18" charset="0"/>
              <a:buChar char="–"/>
            </a:pPr>
            <a:r>
              <a:rPr lang="en-US" sz="2200" dirty="0">
                <a:solidFill>
                  <a:srgbClr val="FFC000"/>
                </a:solidFill>
                <a:latin typeface="Times New Roman" panose="02020603050405020304" pitchFamily="18" charset="0"/>
                <a:cs typeface="Times New Roman" panose="02020603050405020304" pitchFamily="18" charset="0"/>
              </a:rPr>
              <a:t>  To achieve multi label annotation to understand the images better and to provide 	a short description based on the spatial relationship of objects in an image.</a:t>
            </a:r>
          </a:p>
          <a:p>
            <a:endParaRPr lang="en-US" sz="2200" dirty="0"/>
          </a:p>
        </p:txBody>
      </p:sp>
    </p:spTree>
    <p:extLst>
      <p:ext uri="{BB962C8B-B14F-4D97-AF65-F5344CB8AC3E}">
        <p14:creationId xmlns:p14="http://schemas.microsoft.com/office/powerpoint/2010/main" val="29004844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172278"/>
            <a:ext cx="10131425" cy="1893589"/>
          </a:xfrm>
        </p:spPr>
        <p:txBody>
          <a:bodyPr/>
          <a:lstStyle/>
          <a:p>
            <a:r>
              <a:rPr lang="en-US" dirty="0"/>
              <a:t>OVERALL ARCHITECTURE DIAGRAM</a:t>
            </a:r>
          </a:p>
        </p:txBody>
      </p:sp>
      <p:sp>
        <p:nvSpPr>
          <p:cNvPr id="3" name="Content Placeholder 2"/>
          <p:cNvSpPr>
            <a:spLocks noGrp="1"/>
          </p:cNvSpPr>
          <p:nvPr>
            <p:ph idx="1"/>
          </p:nvPr>
        </p:nvSpPr>
        <p:spPr>
          <a:xfrm>
            <a:off x="685801" y="1550505"/>
            <a:ext cx="10131425" cy="2332382"/>
          </a:xfrm>
        </p:spPr>
        <p:txBody>
          <a:bodyPr>
            <a:normAutofit/>
          </a:bodyPr>
          <a:lstStyle/>
          <a:p>
            <a:r>
              <a:rPr lang="en-US" sz="2200" dirty="0">
                <a:latin typeface="Times New Roman" panose="02020603050405020304" pitchFamily="18" charset="0"/>
                <a:cs typeface="Times New Roman" panose="02020603050405020304" pitchFamily="18" charset="0"/>
              </a:rPr>
              <a:t>The overall architecture diagram gives a clear idea about the flow of the process through every module from the input to the expected output.</a:t>
            </a:r>
          </a:p>
        </p:txBody>
      </p:sp>
    </p:spTree>
    <p:extLst>
      <p:ext uri="{BB962C8B-B14F-4D97-AF65-F5344CB8AC3E}">
        <p14:creationId xmlns:p14="http://schemas.microsoft.com/office/powerpoint/2010/main" val="34552286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Rectangle 3"/>
          <p:cNvSpPr/>
          <p:nvPr/>
        </p:nvSpPr>
        <p:spPr>
          <a:xfrm>
            <a:off x="1347916" y="954934"/>
            <a:ext cx="2086742" cy="1179443"/>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b="1" dirty="0">
                <a:solidFill>
                  <a:schemeClr val="bg1"/>
                </a:solidFill>
              </a:rPr>
              <a:t>PRE-PROCESSING</a:t>
            </a:r>
          </a:p>
          <a:p>
            <a:pPr algn="ctr"/>
            <a:endParaRPr lang="en-US" dirty="0">
              <a:solidFill>
                <a:schemeClr val="bg1"/>
              </a:solidFill>
            </a:endParaRPr>
          </a:p>
          <a:p>
            <a:pPr algn="ctr"/>
            <a:endParaRPr lang="en-US" dirty="0">
              <a:solidFill>
                <a:schemeClr val="bg1"/>
              </a:solidFill>
            </a:endParaRPr>
          </a:p>
          <a:p>
            <a:pPr algn="ctr"/>
            <a:endParaRPr lang="en-US" dirty="0">
              <a:solidFill>
                <a:schemeClr val="bg1"/>
              </a:solidFill>
            </a:endParaRPr>
          </a:p>
        </p:txBody>
      </p:sp>
      <p:sp>
        <p:nvSpPr>
          <p:cNvPr id="5" name="Rectangle: Rounded Corners 4"/>
          <p:cNvSpPr/>
          <p:nvPr/>
        </p:nvSpPr>
        <p:spPr>
          <a:xfrm>
            <a:off x="1446765" y="1271891"/>
            <a:ext cx="1916713" cy="781879"/>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sz="1600" dirty="0">
                <a:solidFill>
                  <a:schemeClr val="bg1"/>
                </a:solidFill>
              </a:rPr>
              <a:t>NOISE REMOVAL</a:t>
            </a:r>
          </a:p>
        </p:txBody>
      </p:sp>
      <p:cxnSp>
        <p:nvCxnSpPr>
          <p:cNvPr id="8" name="Straight Arrow Connector 7"/>
          <p:cNvCxnSpPr>
            <a:cxnSpLocks/>
            <a:endCxn id="9" idx="1"/>
          </p:cNvCxnSpPr>
          <p:nvPr/>
        </p:nvCxnSpPr>
        <p:spPr>
          <a:xfrm flipV="1">
            <a:off x="3512851" y="1529545"/>
            <a:ext cx="537147" cy="938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4049998" y="939823"/>
            <a:ext cx="3509032" cy="1179443"/>
          </a:xfrm>
          <a:prstGeom prst="rect">
            <a:avLst/>
          </a:prstGeom>
          <a:ln>
            <a:solidFill>
              <a:schemeClr val="bg1"/>
            </a:solid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b="1" dirty="0">
                <a:solidFill>
                  <a:schemeClr val="bg1"/>
                </a:solidFill>
              </a:rPr>
              <a:t>REGION SEGMENTATION</a:t>
            </a:r>
          </a:p>
          <a:p>
            <a:pPr algn="ctr"/>
            <a:endParaRPr lang="en-US" b="1" dirty="0">
              <a:solidFill>
                <a:schemeClr val="bg1"/>
              </a:solidFill>
            </a:endParaRPr>
          </a:p>
          <a:p>
            <a:pPr algn="ctr"/>
            <a:endParaRPr lang="en-US" b="1" dirty="0">
              <a:solidFill>
                <a:schemeClr val="bg1"/>
              </a:solidFill>
            </a:endParaRPr>
          </a:p>
        </p:txBody>
      </p:sp>
      <p:sp>
        <p:nvSpPr>
          <p:cNvPr id="10" name="Rectangle: Rounded Corners 9"/>
          <p:cNvSpPr/>
          <p:nvPr/>
        </p:nvSpPr>
        <p:spPr>
          <a:xfrm>
            <a:off x="4288447" y="1469324"/>
            <a:ext cx="1184939" cy="496957"/>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sz="1600" dirty="0">
                <a:solidFill>
                  <a:schemeClr val="bg1"/>
                </a:solidFill>
              </a:rPr>
              <a:t>EDGE</a:t>
            </a:r>
          </a:p>
          <a:p>
            <a:pPr algn="ctr"/>
            <a:r>
              <a:rPr lang="en-US" sz="1600" dirty="0">
                <a:solidFill>
                  <a:schemeClr val="bg1"/>
                </a:solidFill>
              </a:rPr>
              <a:t>DETECTION</a:t>
            </a:r>
          </a:p>
        </p:txBody>
      </p:sp>
      <p:sp>
        <p:nvSpPr>
          <p:cNvPr id="11" name="Rectangle: Rounded Corners 10"/>
          <p:cNvSpPr/>
          <p:nvPr/>
        </p:nvSpPr>
        <p:spPr>
          <a:xfrm>
            <a:off x="5678512" y="1426173"/>
            <a:ext cx="1686003" cy="503585"/>
          </a:xfrm>
          <a:prstGeom prst="roundRect">
            <a:avLst/>
          </a:prstGeom>
          <a:ln>
            <a:solidFill>
              <a:schemeClr val="bg1"/>
            </a:solid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sz="1600" dirty="0">
                <a:solidFill>
                  <a:schemeClr val="bg1"/>
                </a:solidFill>
              </a:rPr>
              <a:t>SEGMENTATTION</a:t>
            </a:r>
          </a:p>
        </p:txBody>
      </p:sp>
      <p:sp>
        <p:nvSpPr>
          <p:cNvPr id="12" name="Rectangle 11"/>
          <p:cNvSpPr/>
          <p:nvPr/>
        </p:nvSpPr>
        <p:spPr>
          <a:xfrm>
            <a:off x="8291093" y="1016736"/>
            <a:ext cx="2447250" cy="1038330"/>
          </a:xfrm>
          <a:prstGeom prst="rect">
            <a:avLst/>
          </a:prstGeom>
          <a:ln>
            <a:solidFill>
              <a:schemeClr val="bg1"/>
            </a:solid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b="1" dirty="0">
                <a:solidFill>
                  <a:schemeClr val="bg1"/>
                </a:solidFill>
              </a:rPr>
              <a:t>FEATURE </a:t>
            </a:r>
          </a:p>
          <a:p>
            <a:pPr algn="ctr"/>
            <a:r>
              <a:rPr lang="en-US" b="1" dirty="0">
                <a:solidFill>
                  <a:schemeClr val="bg1"/>
                </a:solidFill>
              </a:rPr>
              <a:t>EXTRACTION</a:t>
            </a:r>
          </a:p>
        </p:txBody>
      </p:sp>
      <p:cxnSp>
        <p:nvCxnSpPr>
          <p:cNvPr id="15" name="Straight Arrow Connector 14"/>
          <p:cNvCxnSpPr>
            <a:cxnSpLocks/>
            <a:stCxn id="9" idx="3"/>
            <a:endCxn id="12" idx="1"/>
          </p:cNvCxnSpPr>
          <p:nvPr/>
        </p:nvCxnSpPr>
        <p:spPr>
          <a:xfrm>
            <a:off x="7559030" y="1529545"/>
            <a:ext cx="732063" cy="6356"/>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8" name="Flowchart: Magnetic Disk 17"/>
          <p:cNvSpPr/>
          <p:nvPr/>
        </p:nvSpPr>
        <p:spPr>
          <a:xfrm>
            <a:off x="10976507" y="1166752"/>
            <a:ext cx="1190375" cy="708990"/>
          </a:xfrm>
          <a:prstGeom prst="flowChartMagneticDisk">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b="1" dirty="0">
                <a:solidFill>
                  <a:schemeClr val="bg1"/>
                </a:solidFill>
              </a:rPr>
              <a:t>DATABASE</a:t>
            </a:r>
          </a:p>
        </p:txBody>
      </p:sp>
      <p:sp>
        <p:nvSpPr>
          <p:cNvPr id="19" name="Rectangle 18"/>
          <p:cNvSpPr/>
          <p:nvPr/>
        </p:nvSpPr>
        <p:spPr>
          <a:xfrm>
            <a:off x="842052" y="2834259"/>
            <a:ext cx="2191907" cy="1311960"/>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b="1" dirty="0">
                <a:solidFill>
                  <a:schemeClr val="bg1"/>
                </a:solidFill>
              </a:rPr>
              <a:t>PRE-PROCESSING</a:t>
            </a:r>
          </a:p>
          <a:p>
            <a:pPr algn="ctr"/>
            <a:endParaRPr lang="en-US" dirty="0">
              <a:solidFill>
                <a:schemeClr val="bg1"/>
              </a:solidFill>
            </a:endParaRPr>
          </a:p>
          <a:p>
            <a:pPr algn="ctr"/>
            <a:endParaRPr lang="en-US" dirty="0">
              <a:solidFill>
                <a:schemeClr val="bg1"/>
              </a:solidFill>
            </a:endParaRPr>
          </a:p>
          <a:p>
            <a:pPr algn="ctr"/>
            <a:endParaRPr lang="en-US" dirty="0">
              <a:solidFill>
                <a:schemeClr val="bg1"/>
              </a:solidFill>
            </a:endParaRPr>
          </a:p>
        </p:txBody>
      </p:sp>
      <p:sp>
        <p:nvSpPr>
          <p:cNvPr id="20" name="Rectangle: Rounded Corners 19"/>
          <p:cNvSpPr/>
          <p:nvPr/>
        </p:nvSpPr>
        <p:spPr>
          <a:xfrm>
            <a:off x="1078460" y="3226907"/>
            <a:ext cx="1765850" cy="781879"/>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sz="1600" dirty="0">
                <a:solidFill>
                  <a:schemeClr val="bg1"/>
                </a:solidFill>
              </a:rPr>
              <a:t> NOISE REMOVAL</a:t>
            </a:r>
          </a:p>
        </p:txBody>
      </p:sp>
      <p:cxnSp>
        <p:nvCxnSpPr>
          <p:cNvPr id="23" name="Straight Arrow Connector 22"/>
          <p:cNvCxnSpPr>
            <a:cxnSpLocks/>
            <a:stCxn id="19" idx="3"/>
            <a:endCxn id="24" idx="1"/>
          </p:cNvCxnSpPr>
          <p:nvPr/>
        </p:nvCxnSpPr>
        <p:spPr>
          <a:xfrm flipV="1">
            <a:off x="3033959" y="3471791"/>
            <a:ext cx="845694" cy="18448"/>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a:off x="3879653" y="2815812"/>
            <a:ext cx="3679377" cy="1311957"/>
          </a:xfrm>
          <a:prstGeom prst="rect">
            <a:avLst/>
          </a:prstGeom>
          <a:ln>
            <a:solidFill>
              <a:schemeClr val="bg1"/>
            </a:solid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b="1">
                <a:solidFill>
                  <a:schemeClr val="bg1"/>
                </a:solidFill>
              </a:rPr>
              <a:t>REGION SEGMENTATION</a:t>
            </a:r>
          </a:p>
          <a:p>
            <a:pPr algn="ctr"/>
            <a:endParaRPr lang="en-US" b="1" dirty="0">
              <a:solidFill>
                <a:schemeClr val="bg1"/>
              </a:solidFill>
            </a:endParaRPr>
          </a:p>
        </p:txBody>
      </p:sp>
      <p:sp>
        <p:nvSpPr>
          <p:cNvPr id="25" name="Rectangle: Rounded Corners 24"/>
          <p:cNvSpPr/>
          <p:nvPr/>
        </p:nvSpPr>
        <p:spPr>
          <a:xfrm>
            <a:off x="4027918" y="3553179"/>
            <a:ext cx="1345099" cy="496957"/>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sz="1600" dirty="0">
                <a:solidFill>
                  <a:schemeClr val="bg1"/>
                </a:solidFill>
              </a:rPr>
              <a:t>EDGE</a:t>
            </a:r>
          </a:p>
          <a:p>
            <a:pPr algn="ctr"/>
            <a:r>
              <a:rPr lang="en-US" sz="1600" dirty="0">
                <a:solidFill>
                  <a:schemeClr val="bg1"/>
                </a:solidFill>
              </a:rPr>
              <a:t>DETECTION</a:t>
            </a:r>
          </a:p>
        </p:txBody>
      </p:sp>
      <p:sp>
        <p:nvSpPr>
          <p:cNvPr id="27" name="Rectangle 26"/>
          <p:cNvSpPr/>
          <p:nvPr/>
        </p:nvSpPr>
        <p:spPr>
          <a:xfrm>
            <a:off x="8593194" y="3100404"/>
            <a:ext cx="2145149" cy="702174"/>
          </a:xfrm>
          <a:prstGeom prst="rect">
            <a:avLst/>
          </a:prstGeom>
          <a:ln>
            <a:solidFill>
              <a:schemeClr val="bg1"/>
            </a:solid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b="1" dirty="0">
                <a:solidFill>
                  <a:schemeClr val="bg1"/>
                </a:solidFill>
              </a:rPr>
              <a:t>FEATURE </a:t>
            </a:r>
          </a:p>
          <a:p>
            <a:pPr algn="ctr"/>
            <a:r>
              <a:rPr lang="en-US" b="1" dirty="0">
                <a:solidFill>
                  <a:schemeClr val="bg1"/>
                </a:solidFill>
              </a:rPr>
              <a:t>EXTRACTION</a:t>
            </a:r>
          </a:p>
        </p:txBody>
      </p:sp>
      <p:cxnSp>
        <p:nvCxnSpPr>
          <p:cNvPr id="30" name="Straight Arrow Connector 29"/>
          <p:cNvCxnSpPr>
            <a:cxnSpLocks/>
            <a:stCxn id="24" idx="3"/>
            <a:endCxn id="27" idx="1"/>
          </p:cNvCxnSpPr>
          <p:nvPr/>
        </p:nvCxnSpPr>
        <p:spPr>
          <a:xfrm flipV="1">
            <a:off x="7559030" y="3451491"/>
            <a:ext cx="1034164" cy="2030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a:xfrm>
            <a:off x="4800761" y="4359042"/>
            <a:ext cx="4561322" cy="2087238"/>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b="1" dirty="0">
                <a:solidFill>
                  <a:schemeClr val="bg1"/>
                </a:solidFill>
              </a:rPr>
              <a:t>IMAGE ANNOTATION</a:t>
            </a:r>
          </a:p>
          <a:p>
            <a:pPr algn="ctr"/>
            <a:endParaRPr lang="en-US" b="1" dirty="0">
              <a:solidFill>
                <a:schemeClr val="bg1"/>
              </a:solidFill>
            </a:endParaRPr>
          </a:p>
          <a:p>
            <a:pPr algn="ctr"/>
            <a:endParaRPr lang="en-US" b="1" dirty="0">
              <a:solidFill>
                <a:schemeClr val="bg1"/>
              </a:solidFill>
            </a:endParaRPr>
          </a:p>
          <a:p>
            <a:pPr algn="ctr"/>
            <a:endParaRPr lang="en-US" b="1" dirty="0">
              <a:solidFill>
                <a:schemeClr val="bg1"/>
              </a:solidFill>
            </a:endParaRPr>
          </a:p>
        </p:txBody>
      </p:sp>
      <p:sp>
        <p:nvSpPr>
          <p:cNvPr id="33" name="Rectangle: Rounded Corners 32"/>
          <p:cNvSpPr/>
          <p:nvPr/>
        </p:nvSpPr>
        <p:spPr>
          <a:xfrm>
            <a:off x="10443637" y="4472929"/>
            <a:ext cx="1520338" cy="1007171"/>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sz="1400" b="1" dirty="0">
                <a:solidFill>
                  <a:schemeClr val="bg1"/>
                </a:solidFill>
              </a:rPr>
              <a:t>SIMILARITY </a:t>
            </a:r>
            <a:br>
              <a:rPr lang="en-US" sz="1400" b="1" dirty="0">
                <a:solidFill>
                  <a:schemeClr val="bg1"/>
                </a:solidFill>
              </a:rPr>
            </a:br>
            <a:r>
              <a:rPr lang="en-US" sz="1400" b="1" dirty="0">
                <a:solidFill>
                  <a:schemeClr val="bg1"/>
                </a:solidFill>
              </a:rPr>
              <a:t>COMPUTATION</a:t>
            </a:r>
          </a:p>
        </p:txBody>
      </p:sp>
      <p:sp>
        <p:nvSpPr>
          <p:cNvPr id="37" name="Rectangle 36"/>
          <p:cNvSpPr/>
          <p:nvPr/>
        </p:nvSpPr>
        <p:spPr>
          <a:xfrm>
            <a:off x="5161342" y="5445091"/>
            <a:ext cx="1502228" cy="798259"/>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IN" dirty="0">
                <a:solidFill>
                  <a:schemeClr val="bg1"/>
                </a:solidFill>
              </a:rPr>
              <a:t>MULTI LABEL ANNOTATION</a:t>
            </a:r>
          </a:p>
        </p:txBody>
      </p:sp>
      <p:sp>
        <p:nvSpPr>
          <p:cNvPr id="38" name="Rectangle 37"/>
          <p:cNvSpPr/>
          <p:nvPr/>
        </p:nvSpPr>
        <p:spPr>
          <a:xfrm>
            <a:off x="7364515" y="5185054"/>
            <a:ext cx="1410788" cy="274320"/>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IN" dirty="0">
                <a:solidFill>
                  <a:schemeClr val="bg1"/>
                </a:solidFill>
              </a:rPr>
              <a:t>LABEL 1</a:t>
            </a:r>
          </a:p>
        </p:txBody>
      </p:sp>
      <p:sp>
        <p:nvSpPr>
          <p:cNvPr id="39" name="Rectangle 38"/>
          <p:cNvSpPr/>
          <p:nvPr/>
        </p:nvSpPr>
        <p:spPr>
          <a:xfrm>
            <a:off x="7364515" y="5636943"/>
            <a:ext cx="1423852" cy="326571"/>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IN" dirty="0">
                <a:solidFill>
                  <a:schemeClr val="bg1"/>
                </a:solidFill>
              </a:rPr>
              <a:t>LABEL 2</a:t>
            </a:r>
          </a:p>
        </p:txBody>
      </p:sp>
      <p:sp>
        <p:nvSpPr>
          <p:cNvPr id="40" name="Rectangle 39"/>
          <p:cNvSpPr/>
          <p:nvPr/>
        </p:nvSpPr>
        <p:spPr>
          <a:xfrm>
            <a:off x="7403705" y="6063740"/>
            <a:ext cx="1449978" cy="261257"/>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IN" dirty="0">
                <a:solidFill>
                  <a:schemeClr val="bg1"/>
                </a:solidFill>
              </a:rPr>
              <a:t>LABEL N</a:t>
            </a:r>
          </a:p>
        </p:txBody>
      </p:sp>
      <p:sp>
        <p:nvSpPr>
          <p:cNvPr id="45" name="Rectangle 44"/>
          <p:cNvSpPr/>
          <p:nvPr/>
        </p:nvSpPr>
        <p:spPr>
          <a:xfrm>
            <a:off x="2018576" y="4829551"/>
            <a:ext cx="1974984" cy="114622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t" anchorCtr="0"/>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r>
              <a:rPr lang="en-IN" b="1" dirty="0">
                <a:solidFill>
                  <a:schemeClr val="bg1"/>
                </a:solidFill>
              </a:rPr>
              <a:t>	SPATIAL</a:t>
            </a:r>
          </a:p>
          <a:p>
            <a:r>
              <a:rPr lang="en-IN" b="1" dirty="0">
                <a:solidFill>
                  <a:schemeClr val="bg1"/>
                </a:solidFill>
              </a:rPr>
              <a:t> RELATIONSHIP DETERMINATION</a:t>
            </a:r>
          </a:p>
        </p:txBody>
      </p:sp>
      <p:cxnSp>
        <p:nvCxnSpPr>
          <p:cNvPr id="104" name="Connector: Elbow 103"/>
          <p:cNvCxnSpPr>
            <a:cxnSpLocks/>
            <a:stCxn id="12" idx="3"/>
            <a:endCxn id="18" idx="1"/>
          </p:cNvCxnSpPr>
          <p:nvPr/>
        </p:nvCxnSpPr>
        <p:spPr>
          <a:xfrm flipV="1">
            <a:off x="10738343" y="1166752"/>
            <a:ext cx="833352" cy="369149"/>
          </a:xfrm>
          <a:prstGeom prst="bentConnector4">
            <a:avLst>
              <a:gd name="adj1" fmla="val 14290"/>
              <a:gd name="adj2" fmla="val 202565"/>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Connector: Elbow 105"/>
          <p:cNvCxnSpPr>
            <a:cxnSpLocks/>
            <a:stCxn id="27" idx="3"/>
          </p:cNvCxnSpPr>
          <p:nvPr/>
        </p:nvCxnSpPr>
        <p:spPr>
          <a:xfrm>
            <a:off x="10738343" y="3451491"/>
            <a:ext cx="476329" cy="1044335"/>
          </a:xfrm>
          <a:prstGeom prst="bentConnector2">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p:cNvCxnSpPr>
            <a:cxnSpLocks/>
          </p:cNvCxnSpPr>
          <p:nvPr/>
        </p:nvCxnSpPr>
        <p:spPr>
          <a:xfrm>
            <a:off x="11635409" y="1990471"/>
            <a:ext cx="0" cy="2482458"/>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Straight Arrow Connector 109"/>
          <p:cNvCxnSpPr>
            <a:cxnSpLocks/>
          </p:cNvCxnSpPr>
          <p:nvPr/>
        </p:nvCxnSpPr>
        <p:spPr>
          <a:xfrm flipH="1">
            <a:off x="9340997" y="4962322"/>
            <a:ext cx="1078003" cy="1419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p:cNvCxnSpPr>
            <a:endCxn id="19" idx="1"/>
          </p:cNvCxnSpPr>
          <p:nvPr/>
        </p:nvCxnSpPr>
        <p:spPr>
          <a:xfrm flipV="1">
            <a:off x="311396" y="3490239"/>
            <a:ext cx="530656" cy="1306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p:cNvCxnSpPr>
            <a:endCxn id="4" idx="1"/>
          </p:cNvCxnSpPr>
          <p:nvPr/>
        </p:nvCxnSpPr>
        <p:spPr>
          <a:xfrm>
            <a:off x="130700" y="1544654"/>
            <a:ext cx="1217216" cy="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5" name="TextBox 124"/>
          <p:cNvSpPr txBox="1"/>
          <p:nvPr/>
        </p:nvSpPr>
        <p:spPr>
          <a:xfrm>
            <a:off x="96508" y="1067879"/>
            <a:ext cx="1217216" cy="923330"/>
          </a:xfrm>
          <a:prstGeom prst="rect">
            <a:avLst/>
          </a:prstGeom>
          <a:noFill/>
        </p:spPr>
        <p:txBody>
          <a:bodyPr wrap="square" rtlCol="0">
            <a:spAutoFit/>
          </a:bodyPr>
          <a:lstStyle/>
          <a:p>
            <a:r>
              <a:rPr lang="en-US" dirty="0">
                <a:solidFill>
                  <a:schemeClr val="bg1"/>
                </a:solidFill>
              </a:rPr>
              <a:t>DATABASE</a:t>
            </a:r>
          </a:p>
          <a:p>
            <a:endParaRPr lang="en-US" dirty="0">
              <a:solidFill>
                <a:schemeClr val="bg1"/>
              </a:solidFill>
            </a:endParaRPr>
          </a:p>
          <a:p>
            <a:r>
              <a:rPr lang="en-US" dirty="0">
                <a:solidFill>
                  <a:schemeClr val="bg1"/>
                </a:solidFill>
              </a:rPr>
              <a:t>POPULATE</a:t>
            </a:r>
          </a:p>
        </p:txBody>
      </p:sp>
      <p:sp>
        <p:nvSpPr>
          <p:cNvPr id="126" name="TextBox 125"/>
          <p:cNvSpPr txBox="1"/>
          <p:nvPr/>
        </p:nvSpPr>
        <p:spPr>
          <a:xfrm flipH="1">
            <a:off x="65604" y="3041635"/>
            <a:ext cx="908438" cy="923330"/>
          </a:xfrm>
          <a:prstGeom prst="rect">
            <a:avLst/>
          </a:prstGeom>
          <a:noFill/>
        </p:spPr>
        <p:txBody>
          <a:bodyPr wrap="square" rtlCol="0">
            <a:spAutoFit/>
          </a:bodyPr>
          <a:lstStyle/>
          <a:p>
            <a:r>
              <a:rPr lang="en-US" dirty="0">
                <a:solidFill>
                  <a:schemeClr val="bg1"/>
                </a:solidFill>
              </a:rPr>
              <a:t>INPUT</a:t>
            </a:r>
          </a:p>
          <a:p>
            <a:endParaRPr lang="en-US" dirty="0">
              <a:solidFill>
                <a:schemeClr val="bg1"/>
              </a:solidFill>
            </a:endParaRPr>
          </a:p>
          <a:p>
            <a:r>
              <a:rPr lang="en-US" dirty="0">
                <a:solidFill>
                  <a:schemeClr val="bg1"/>
                </a:solidFill>
              </a:rPr>
              <a:t>IMAGE </a:t>
            </a:r>
          </a:p>
        </p:txBody>
      </p:sp>
      <p:cxnSp>
        <p:nvCxnSpPr>
          <p:cNvPr id="55" name="Straight Arrow Connector 54"/>
          <p:cNvCxnSpPr>
            <a:stCxn id="37" idx="3"/>
            <a:endCxn id="38" idx="1"/>
          </p:cNvCxnSpPr>
          <p:nvPr/>
        </p:nvCxnSpPr>
        <p:spPr>
          <a:xfrm flipV="1">
            <a:off x="6663570" y="5322214"/>
            <a:ext cx="700945" cy="52200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37" idx="3"/>
            <a:endCxn id="39" idx="1"/>
          </p:cNvCxnSpPr>
          <p:nvPr/>
        </p:nvCxnSpPr>
        <p:spPr>
          <a:xfrm flipV="1">
            <a:off x="6663570" y="5800229"/>
            <a:ext cx="700945" cy="4399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a:stCxn id="37" idx="3"/>
            <a:endCxn id="40" idx="1"/>
          </p:cNvCxnSpPr>
          <p:nvPr/>
        </p:nvCxnSpPr>
        <p:spPr>
          <a:xfrm>
            <a:off x="6663570" y="5844221"/>
            <a:ext cx="740135" cy="350148"/>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Straight Arrow Connector 137"/>
          <p:cNvCxnSpPr>
            <a:cxnSpLocks/>
            <a:stCxn id="32" idx="1"/>
            <a:endCxn id="45" idx="3"/>
          </p:cNvCxnSpPr>
          <p:nvPr/>
        </p:nvCxnSpPr>
        <p:spPr>
          <a:xfrm flipH="1">
            <a:off x="3993560" y="5402661"/>
            <a:ext cx="807201"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86" name="Rectangle: Rounded Corners 185"/>
          <p:cNvSpPr/>
          <p:nvPr/>
        </p:nvSpPr>
        <p:spPr>
          <a:xfrm>
            <a:off x="5579164" y="3548998"/>
            <a:ext cx="1785351" cy="453844"/>
          </a:xfrm>
          <a:prstGeom prst="round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SEGMENTATION</a:t>
            </a:r>
          </a:p>
        </p:txBody>
      </p:sp>
      <p:cxnSp>
        <p:nvCxnSpPr>
          <p:cNvPr id="73" name="Straight Arrow Connector 72"/>
          <p:cNvCxnSpPr/>
          <p:nvPr/>
        </p:nvCxnSpPr>
        <p:spPr>
          <a:xfrm flipH="1">
            <a:off x="1167484" y="5398437"/>
            <a:ext cx="793901"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4" name="TextBox 73"/>
          <p:cNvSpPr txBox="1"/>
          <p:nvPr/>
        </p:nvSpPr>
        <p:spPr>
          <a:xfrm>
            <a:off x="232157" y="4538867"/>
            <a:ext cx="1290884" cy="1200329"/>
          </a:xfrm>
          <a:prstGeom prst="rect">
            <a:avLst/>
          </a:prstGeom>
          <a:noFill/>
        </p:spPr>
        <p:txBody>
          <a:bodyPr wrap="square" rtlCol="0">
            <a:spAutoFit/>
          </a:bodyPr>
          <a:lstStyle/>
          <a:p>
            <a:r>
              <a:rPr lang="en-US" dirty="0">
                <a:solidFill>
                  <a:schemeClr val="bg1"/>
                </a:solidFill>
              </a:rPr>
              <a:t>Spatial relationship</a:t>
            </a:r>
          </a:p>
          <a:p>
            <a:r>
              <a:rPr lang="en-US" dirty="0">
                <a:solidFill>
                  <a:schemeClr val="bg1"/>
                </a:solidFill>
              </a:rPr>
              <a:t>between the labels</a:t>
            </a:r>
          </a:p>
        </p:txBody>
      </p:sp>
    </p:spTree>
    <p:extLst>
      <p:ext uri="{BB962C8B-B14F-4D97-AF65-F5344CB8AC3E}">
        <p14:creationId xmlns:p14="http://schemas.microsoft.com/office/powerpoint/2010/main" val="35131773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DETAILED MODULE DESIGN</a:t>
            </a:r>
          </a:p>
        </p:txBody>
      </p:sp>
      <p:sp>
        <p:nvSpPr>
          <p:cNvPr id="3" name="Content Placeholder 2"/>
          <p:cNvSpPr>
            <a:spLocks noGrp="1"/>
          </p:cNvSpPr>
          <p:nvPr>
            <p:ph idx="1"/>
          </p:nvPr>
        </p:nvSpPr>
        <p:spPr>
          <a:xfrm>
            <a:off x="685801" y="2142067"/>
            <a:ext cx="10131425" cy="4417759"/>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	The list of modules involved in the entire process are as follows:</a:t>
            </a:r>
          </a:p>
          <a:p>
            <a:r>
              <a:rPr lang="en-US" sz="2400" dirty="0">
                <a:latin typeface="Times New Roman" panose="02020603050405020304" pitchFamily="18" charset="0"/>
                <a:cs typeface="Times New Roman" panose="02020603050405020304" pitchFamily="18" charset="0"/>
              </a:rPr>
              <a:t>Pre-Processing</a:t>
            </a:r>
          </a:p>
          <a:p>
            <a:r>
              <a:rPr lang="en-US" sz="2400" dirty="0">
                <a:latin typeface="Times New Roman" panose="02020603050405020304" pitchFamily="18" charset="0"/>
                <a:cs typeface="Times New Roman" panose="02020603050405020304" pitchFamily="18" charset="0"/>
              </a:rPr>
              <a:t>Edge Detection</a:t>
            </a:r>
          </a:p>
          <a:p>
            <a:r>
              <a:rPr lang="en-US" sz="2400" dirty="0">
                <a:latin typeface="Times New Roman" panose="02020603050405020304" pitchFamily="18" charset="0"/>
                <a:cs typeface="Times New Roman" panose="02020603050405020304" pitchFamily="18" charset="0"/>
              </a:rPr>
              <a:t>Region Segmentation</a:t>
            </a:r>
          </a:p>
          <a:p>
            <a:r>
              <a:rPr lang="en-US" sz="2400" dirty="0">
                <a:latin typeface="Times New Roman" panose="02020603050405020304" pitchFamily="18" charset="0"/>
                <a:cs typeface="Times New Roman" panose="02020603050405020304" pitchFamily="18" charset="0"/>
              </a:rPr>
              <a:t>Feature Extraction</a:t>
            </a:r>
          </a:p>
          <a:p>
            <a:r>
              <a:rPr lang="en-US" sz="2400" dirty="0">
                <a:latin typeface="Times New Roman" panose="02020603050405020304" pitchFamily="18" charset="0"/>
                <a:cs typeface="Times New Roman" panose="02020603050405020304" pitchFamily="18" charset="0"/>
              </a:rPr>
              <a:t>Multi Label Image Annotation</a:t>
            </a:r>
          </a:p>
          <a:p>
            <a:r>
              <a:rPr lang="en-US" sz="2400" dirty="0">
                <a:latin typeface="Times New Roman" panose="02020603050405020304" pitchFamily="18" charset="0"/>
                <a:cs typeface="Times New Roman" panose="02020603050405020304" pitchFamily="18" charset="0"/>
              </a:rPr>
              <a:t>Spatial Relationship Determination</a:t>
            </a:r>
          </a:p>
        </p:txBody>
      </p:sp>
    </p:spTree>
    <p:extLst>
      <p:ext uri="{BB962C8B-B14F-4D97-AF65-F5344CB8AC3E}">
        <p14:creationId xmlns:p14="http://schemas.microsoft.com/office/powerpoint/2010/main" val="9190221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1" y="0"/>
            <a:ext cx="11240036" cy="6652591"/>
          </a:xfrm>
        </p:spPr>
        <p:txBody>
          <a:bodyPr>
            <a:noAutofit/>
          </a:bodyPr>
          <a:lstStyle/>
          <a:p>
            <a:pPr marL="0" indent="0">
              <a:buNone/>
            </a:pPr>
            <a:r>
              <a:rPr lang="en-US" sz="2400" dirty="0">
                <a:solidFill>
                  <a:srgbClr val="FFC000"/>
                </a:solidFill>
                <a:latin typeface="Times New Roman" pitchFamily="18" charset="0"/>
                <a:cs typeface="Times New Roman" panose="02020603050405020304" pitchFamily="18" charset="0"/>
              </a:rPr>
              <a:t>PRE-PROCESSING: (Gaussian Removal algorithm)</a:t>
            </a:r>
          </a:p>
          <a:p>
            <a:pPr marL="0" indent="0">
              <a:buNone/>
            </a:pPr>
            <a:r>
              <a:rPr lang="en-US" sz="2400" dirty="0">
                <a:solidFill>
                  <a:srgbClr val="FFC000"/>
                </a:solidFill>
                <a:latin typeface="Times New Roman" pitchFamily="18" charset="0"/>
                <a:cs typeface="Times New Roman" panose="02020603050405020304" pitchFamily="18" charset="0"/>
              </a:rPr>
              <a:t>INPUT:</a:t>
            </a:r>
          </a:p>
          <a:p>
            <a:pPr marL="0" indent="0">
              <a:buNone/>
            </a:pPr>
            <a:r>
              <a:rPr lang="en-US" sz="2400" dirty="0">
                <a:solidFill>
                  <a:srgbClr val="FFC000"/>
                </a:solidFill>
                <a:latin typeface="Times New Roman"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Input image.</a:t>
            </a:r>
          </a:p>
          <a:p>
            <a:pPr marL="0" indent="0">
              <a:buNone/>
            </a:pPr>
            <a:r>
              <a:rPr lang="en-US" sz="2400" dirty="0">
                <a:solidFill>
                  <a:srgbClr val="FFC000"/>
                </a:solidFill>
                <a:latin typeface="Times New Roman" panose="02020603050405020304" pitchFamily="18" charset="0"/>
                <a:cs typeface="Times New Roman" panose="02020603050405020304" pitchFamily="18" charset="0"/>
              </a:rPr>
              <a:t>OUTPUT:</a:t>
            </a:r>
          </a:p>
          <a:p>
            <a:pPr marL="0" indent="0">
              <a:buNone/>
            </a:pPr>
            <a:r>
              <a:rPr lang="en-US" sz="2400" dirty="0">
                <a:solidFill>
                  <a:srgbClr val="FFC00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Noise removed image.</a:t>
            </a:r>
          </a:p>
          <a:p>
            <a:pPr marL="0" indent="0">
              <a:buNone/>
            </a:pPr>
            <a:r>
              <a:rPr lang="en-US" sz="2400" dirty="0">
                <a:solidFill>
                  <a:srgbClr val="FFC000"/>
                </a:solidFill>
                <a:latin typeface="Times New Roman" panose="02020603050405020304" pitchFamily="18" charset="0"/>
                <a:cs typeface="Times New Roman" panose="02020603050405020304" pitchFamily="18" charset="0"/>
              </a:rPr>
              <a:t>ALGORITHM:</a:t>
            </a:r>
          </a:p>
          <a:p>
            <a:pPr marL="0" indent="0">
              <a:buNone/>
            </a:pPr>
            <a:r>
              <a:rPr lang="en-US" sz="2400" dirty="0">
                <a:solidFill>
                  <a:srgbClr val="FFC00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Begin</a:t>
            </a:r>
          </a:p>
          <a:p>
            <a:pPr marL="0" indent="0">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itchFamily="18" charset="0"/>
                <a:cs typeface="Times New Roman" pitchFamily="18" charset="0"/>
              </a:rPr>
              <a:t>Img</a:t>
            </a:r>
            <a:r>
              <a:rPr lang="en-US" sz="2400" dirty="0">
                <a:latin typeface="Times New Roman" pitchFamily="18" charset="0"/>
                <a:cs typeface="Times New Roman" pitchFamily="18" charset="0"/>
              </a:rPr>
              <a:t> = I; </a:t>
            </a:r>
            <a:r>
              <a:rPr lang="en-US" sz="2400" dirty="0">
                <a:solidFill>
                  <a:srgbClr val="FFC000"/>
                </a:solidFill>
                <a:latin typeface="Times New Roman" pitchFamily="18" charset="0"/>
                <a:cs typeface="Times New Roman" pitchFamily="18" charset="0"/>
              </a:rPr>
              <a:t>% Input image </a:t>
            </a:r>
          </a:p>
          <a:p>
            <a:pPr marL="0" indent="0">
              <a:buNone/>
            </a:pPr>
            <a:r>
              <a:rPr lang="en-US" sz="2400" dirty="0">
                <a:latin typeface="Times New Roman" pitchFamily="18" charset="0"/>
                <a:cs typeface="Times New Roman" pitchFamily="18" charset="0"/>
              </a:rPr>
              <a:t>				A = </a:t>
            </a:r>
            <a:r>
              <a:rPr lang="en-US" sz="2400" dirty="0" err="1">
                <a:latin typeface="Times New Roman" pitchFamily="18" charset="0"/>
                <a:cs typeface="Times New Roman" pitchFamily="18" charset="0"/>
              </a:rPr>
              <a:t>imnoise</a:t>
            </a:r>
            <a:r>
              <a:rPr lang="en-US" sz="2400" dirty="0">
                <a:latin typeface="Times New Roman" pitchFamily="18" charset="0"/>
                <a:cs typeface="Times New Roman" pitchFamily="18" charset="0"/>
              </a:rPr>
              <a:t>(Img,'Gaussian',0.04,0.003);  </a:t>
            </a:r>
            <a:r>
              <a:rPr lang="en-US" sz="2400" dirty="0">
                <a:solidFill>
                  <a:srgbClr val="FFC000"/>
                </a:solidFill>
                <a:latin typeface="Times New Roman" panose="02020603050405020304" pitchFamily="18" charset="0"/>
                <a:cs typeface="Times New Roman" panose="02020603050405020304" pitchFamily="18" charset="0"/>
              </a:rPr>
              <a:t>%Add noise to the Input image </a:t>
            </a:r>
          </a:p>
          <a:p>
            <a:pPr marL="0" indent="0">
              <a:buNone/>
            </a:pPr>
            <a:r>
              <a:rPr lang="en-US" sz="2400" dirty="0">
                <a:latin typeface="Times New Roman" pitchFamily="18" charset="0"/>
                <a:cs typeface="Times New Roman" pitchFamily="18" charset="0"/>
              </a:rPr>
              <a:t>				</a:t>
            </a:r>
            <a:r>
              <a:rPr lang="pt-BR" sz="2400" dirty="0">
                <a:latin typeface="Times New Roman" pitchFamily="18" charset="0"/>
                <a:cs typeface="Times New Roman" pitchFamily="18" charset="0"/>
              </a:rPr>
              <a:t>H = fspecial('Gaussian',[9 9],1.76);  </a:t>
            </a:r>
            <a:r>
              <a:rPr lang="en-US" sz="2400" dirty="0">
                <a:solidFill>
                  <a:srgbClr val="FFC000"/>
                </a:solidFill>
                <a:latin typeface="Times New Roman" pitchFamily="18" charset="0"/>
                <a:cs typeface="Times New Roman" pitchFamily="18" charset="0"/>
              </a:rPr>
              <a:t>%Symmetric  Gaussian</a:t>
            </a:r>
            <a:endParaRPr lang="pt-BR" sz="2400" dirty="0">
              <a:latin typeface="Times New Roman" pitchFamily="18" charset="0"/>
              <a:cs typeface="Times New Roman" pitchFamily="18" charset="0"/>
            </a:endParaRPr>
          </a:p>
          <a:p>
            <a:pPr marL="0" indent="0">
              <a:buNone/>
            </a:pP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GaussF</a:t>
            </a:r>
            <a:r>
              <a:rPr lang="en-US" sz="2400" dirty="0">
                <a:latin typeface="Times New Roman" pitchFamily="18" charset="0"/>
                <a:cs typeface="Times New Roman" pitchFamily="18" charset="0"/>
              </a:rPr>
              <a:t> = </a:t>
            </a:r>
            <a:r>
              <a:rPr lang="en-US" sz="2400" dirty="0" err="1">
                <a:latin typeface="Times New Roman" pitchFamily="18" charset="0"/>
                <a:cs typeface="Times New Roman" pitchFamily="18" charset="0"/>
              </a:rPr>
              <a:t>imfilter</a:t>
            </a:r>
            <a:r>
              <a:rPr lang="en-US" sz="2400" dirty="0">
                <a:latin typeface="Times New Roman" pitchFamily="18" charset="0"/>
                <a:cs typeface="Times New Roman" pitchFamily="18" charset="0"/>
              </a:rPr>
              <a:t>(A,H);	</a:t>
            </a:r>
            <a:r>
              <a:rPr lang="en-US" sz="2400" dirty="0">
                <a:solidFill>
                  <a:srgbClr val="FFC000"/>
                </a:solidFill>
                <a:latin typeface="Times New Roman" pitchFamily="18" charset="0"/>
                <a:cs typeface="Times New Roman" pitchFamily="18" charset="0"/>
              </a:rPr>
              <a:t> % Image filter</a:t>
            </a: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		End</a:t>
            </a:r>
          </a:p>
        </p:txBody>
      </p:sp>
    </p:spTree>
    <p:extLst>
      <p:ext uri="{BB962C8B-B14F-4D97-AF65-F5344CB8AC3E}">
        <p14:creationId xmlns:p14="http://schemas.microsoft.com/office/powerpoint/2010/main" val="32675361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p:txBody>
          <a:bodyPr/>
          <a:lstStyle/>
          <a:p>
            <a:r>
              <a:rPr lang="en-US" dirty="0">
                <a:solidFill>
                  <a:srgbClr val="FFC000"/>
                </a:solidFill>
                <a:latin typeface="Times New Roman" pitchFamily="18" charset="0"/>
                <a:cs typeface="Times New Roman" panose="02020603050405020304" pitchFamily="18" charset="0"/>
              </a:rPr>
              <a:t>						PRE-PROCESSING</a:t>
            </a:r>
            <a:endParaRPr lang="en-US" dirty="0"/>
          </a:p>
        </p:txBody>
      </p:sp>
      <p:sp>
        <p:nvSpPr>
          <p:cNvPr id="12" name="Text Placeholder 11"/>
          <p:cNvSpPr>
            <a:spLocks noGrp="1"/>
          </p:cNvSpPr>
          <p:nvPr>
            <p:ph type="body" idx="1"/>
          </p:nvPr>
        </p:nvSpPr>
        <p:spPr/>
        <p:txBody>
          <a:bodyPr/>
          <a:lstStyle/>
          <a:p>
            <a:r>
              <a:rPr lang="en-US" dirty="0">
                <a:solidFill>
                  <a:srgbClr val="FFC000"/>
                </a:solidFill>
                <a:latin typeface="Times New Roman" pitchFamily="18" charset="0"/>
                <a:cs typeface="Times New Roman" pitchFamily="18" charset="0"/>
              </a:rPr>
              <a:t>INPUT:</a:t>
            </a:r>
          </a:p>
        </p:txBody>
      </p:sp>
      <p:pic>
        <p:nvPicPr>
          <p:cNvPr id="9" name="Content Placeholder 8"/>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133341" y="3449514"/>
            <a:ext cx="3356291" cy="2449010"/>
          </a:xfrm>
        </p:spPr>
      </p:pic>
      <p:sp>
        <p:nvSpPr>
          <p:cNvPr id="13" name="Text Placeholder 12"/>
          <p:cNvSpPr>
            <a:spLocks noGrp="1"/>
          </p:cNvSpPr>
          <p:nvPr>
            <p:ph type="body" sz="quarter" idx="3"/>
          </p:nvPr>
        </p:nvSpPr>
        <p:spPr/>
        <p:txBody>
          <a:bodyPr/>
          <a:lstStyle/>
          <a:p>
            <a:r>
              <a:rPr lang="en-US" dirty="0">
                <a:solidFill>
                  <a:srgbClr val="FFC000"/>
                </a:solidFill>
                <a:latin typeface="Times New Roman" panose="02020603050405020304" pitchFamily="18" charset="0"/>
                <a:cs typeface="Times New Roman" panose="02020603050405020304" pitchFamily="18" charset="0"/>
              </a:rPr>
              <a:t>OUTPUT:</a:t>
            </a:r>
            <a:endParaRPr lang="en-US" dirty="0"/>
          </a:p>
        </p:txBody>
      </p:sp>
      <p:pic>
        <p:nvPicPr>
          <p:cNvPr id="10" name="Content Placeholder 9"/>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246254" y="3459040"/>
            <a:ext cx="3389261" cy="2375089"/>
          </a:xfrm>
        </p:spPr>
      </p:pic>
    </p:spTree>
    <p:extLst>
      <p:ext uri="{BB962C8B-B14F-4D97-AF65-F5344CB8AC3E}">
        <p14:creationId xmlns:p14="http://schemas.microsoft.com/office/powerpoint/2010/main" val="18609195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1" y="1352282"/>
            <a:ext cx="11506199" cy="5241701"/>
          </a:xfrm>
        </p:spPr>
        <p:txBody>
          <a:bodyPr>
            <a:noAutofit/>
          </a:bodyPr>
          <a:lstStyle/>
          <a:p>
            <a:pPr marL="0" indent="0">
              <a:buNone/>
            </a:pPr>
            <a:r>
              <a:rPr lang="en-US" dirty="0">
                <a:solidFill>
                  <a:srgbClr val="FFC000"/>
                </a:solidFill>
                <a:latin typeface="Times New Roman" panose="02020603050405020304" pitchFamily="18" charset="0"/>
                <a:cs typeface="Times New Roman" panose="02020603050405020304" pitchFamily="18" charset="0"/>
              </a:rPr>
              <a:t>EDGE DETECTION: (Sobel Edge Detection Algorithm)</a:t>
            </a:r>
          </a:p>
          <a:p>
            <a:pPr marL="0" indent="0">
              <a:buNone/>
            </a:pPr>
            <a:r>
              <a:rPr lang="en-US" dirty="0">
                <a:solidFill>
                  <a:srgbClr val="FFC000"/>
                </a:solidFill>
                <a:latin typeface="Times New Roman" panose="02020603050405020304" pitchFamily="18" charset="0"/>
                <a:cs typeface="Times New Roman" panose="02020603050405020304" pitchFamily="18" charset="0"/>
              </a:rPr>
              <a:t>INPUT:</a:t>
            </a:r>
          </a:p>
          <a:p>
            <a:pPr marL="0" indent="0">
              <a:buNone/>
            </a:pPr>
            <a:r>
              <a:rPr lang="en-US" dirty="0">
                <a:solidFill>
                  <a:srgbClr val="FFC00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Noise removed image.</a:t>
            </a:r>
          </a:p>
          <a:p>
            <a:pPr marL="0" indent="0">
              <a:buNone/>
            </a:pPr>
            <a:r>
              <a:rPr lang="en-US" dirty="0">
                <a:solidFill>
                  <a:srgbClr val="FFC000"/>
                </a:solidFill>
                <a:latin typeface="Times New Roman" panose="02020603050405020304" pitchFamily="18" charset="0"/>
                <a:cs typeface="Times New Roman" panose="02020603050405020304" pitchFamily="18" charset="0"/>
              </a:rPr>
              <a:t>OUTPUT:</a:t>
            </a:r>
          </a:p>
          <a:p>
            <a:pPr marL="0" indent="0">
              <a:buNone/>
            </a:pPr>
            <a:r>
              <a:rPr lang="en-US" dirty="0">
                <a:solidFill>
                  <a:srgbClr val="FFC00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Image in which all possible edges detected.</a:t>
            </a:r>
          </a:p>
          <a:p>
            <a:pPr marL="0" indent="0">
              <a:buNone/>
            </a:pPr>
            <a:r>
              <a:rPr lang="en-US" dirty="0">
                <a:solidFill>
                  <a:srgbClr val="FFC000"/>
                </a:solidFill>
                <a:latin typeface="Times New Roman" panose="02020603050405020304" pitchFamily="18" charset="0"/>
                <a:cs typeface="Times New Roman" panose="02020603050405020304" pitchFamily="18" charset="0"/>
              </a:rPr>
              <a:t>ALGORITHM:</a:t>
            </a:r>
          </a:p>
          <a:p>
            <a:pPr marL="0" indent="0">
              <a:buNone/>
            </a:pPr>
            <a:r>
              <a:rPr lang="en-US" dirty="0">
                <a:solidFill>
                  <a:srgbClr val="FFC00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Begin</a:t>
            </a:r>
          </a:p>
          <a:p>
            <a:pPr marL="0" indent="0">
              <a:buNone/>
            </a:pPr>
            <a:r>
              <a:rPr lang="en-US" dirty="0">
                <a:latin typeface="Times New Roman" panose="02020603050405020304" pitchFamily="18" charset="0"/>
                <a:cs typeface="Times New Roman" panose="02020603050405020304" pitchFamily="18" charset="0"/>
              </a:rPr>
              <a:t>			</a:t>
            </a:r>
            <a:r>
              <a:rPr lang="en-US" dirty="0"/>
              <a:t>for i=1:size(C,1)-2</a:t>
            </a:r>
          </a:p>
          <a:p>
            <a:pPr marL="0" indent="0">
              <a:buNone/>
            </a:pPr>
            <a:r>
              <a:rPr lang="en-US" dirty="0"/>
              <a:t>				for j=1:size(C,2)-2</a:t>
            </a:r>
          </a:p>
          <a:p>
            <a:pPr marL="0" indent="0">
              <a:buNone/>
            </a:pPr>
            <a:r>
              <a:rPr lang="en-US" dirty="0"/>
              <a:t>					</a:t>
            </a:r>
            <a:r>
              <a:rPr lang="en-US" dirty="0" err="1"/>
              <a:t>Gx</a:t>
            </a:r>
            <a:r>
              <a:rPr lang="en-US" dirty="0"/>
              <a:t>=((2*C(i+2,j+1)+C(i+2,j)+C(i+2,j+2))-(2*C(i,j+1)+C(</a:t>
            </a:r>
            <a:r>
              <a:rPr lang="en-US" dirty="0" err="1"/>
              <a:t>i,j</a:t>
            </a:r>
            <a:r>
              <a:rPr lang="en-US" dirty="0"/>
              <a:t>)+C(i,j+2))); </a:t>
            </a:r>
            <a:r>
              <a:rPr lang="en-US" dirty="0">
                <a:solidFill>
                  <a:srgbClr val="FFC000"/>
                </a:solidFill>
              </a:rPr>
              <a:t>% </a:t>
            </a:r>
            <a:r>
              <a:rPr lang="en-US" dirty="0" err="1">
                <a:solidFill>
                  <a:srgbClr val="FFC000"/>
                </a:solidFill>
              </a:rPr>
              <a:t>Sobel</a:t>
            </a:r>
            <a:r>
              <a:rPr lang="en-US" dirty="0">
                <a:solidFill>
                  <a:srgbClr val="FFC000"/>
                </a:solidFill>
              </a:rPr>
              <a:t> mask for x-direction</a:t>
            </a:r>
          </a:p>
          <a:p>
            <a:pPr marL="0" indent="0">
              <a:buNone/>
            </a:pPr>
            <a:r>
              <a:rPr lang="en-US" dirty="0"/>
              <a:t>					</a:t>
            </a:r>
            <a:r>
              <a:rPr lang="en-US" dirty="0" err="1"/>
              <a:t>Gy</a:t>
            </a:r>
            <a:r>
              <a:rPr lang="en-US" dirty="0"/>
              <a:t>=((2*C(i+1,j+2)+C(i,j+2)+C(i+2,j+2))-(2*C(i+1,j)+C(</a:t>
            </a:r>
            <a:r>
              <a:rPr lang="en-US" dirty="0" err="1"/>
              <a:t>i,j</a:t>
            </a:r>
            <a:r>
              <a:rPr lang="en-US" dirty="0"/>
              <a:t>)+C(i+2,j)));  </a:t>
            </a:r>
            <a:r>
              <a:rPr lang="en-US" dirty="0">
                <a:solidFill>
                  <a:srgbClr val="FFC000"/>
                </a:solidFill>
              </a:rPr>
              <a:t>% </a:t>
            </a:r>
            <a:r>
              <a:rPr lang="en-US" dirty="0" err="1">
                <a:solidFill>
                  <a:srgbClr val="FFC000"/>
                </a:solidFill>
              </a:rPr>
              <a:t>Sobel</a:t>
            </a:r>
            <a:r>
              <a:rPr lang="en-US" dirty="0">
                <a:solidFill>
                  <a:srgbClr val="FFC000"/>
                </a:solidFill>
              </a:rPr>
              <a:t> mask for y-direction</a:t>
            </a:r>
          </a:p>
          <a:p>
            <a:pPr marL="0" indent="0">
              <a:buNone/>
            </a:pPr>
            <a:r>
              <a:rPr lang="en-US" dirty="0"/>
              <a:t>					B(</a:t>
            </a:r>
            <a:r>
              <a:rPr lang="en-US" dirty="0" err="1"/>
              <a:t>i,j</a:t>
            </a:r>
            <a:r>
              <a:rPr lang="en-US" dirty="0"/>
              <a:t>)=</a:t>
            </a:r>
            <a:r>
              <a:rPr lang="en-US" dirty="0" err="1"/>
              <a:t>sqrt</a:t>
            </a:r>
            <a:r>
              <a:rPr lang="en-US" dirty="0"/>
              <a:t>(Gx.^2+Gy.^2);  </a:t>
            </a:r>
            <a:r>
              <a:rPr lang="en-US" dirty="0">
                <a:solidFill>
                  <a:srgbClr val="FFC000"/>
                </a:solidFill>
              </a:rPr>
              <a:t>%The gradient of the image</a:t>
            </a:r>
          </a:p>
          <a:p>
            <a:pPr marL="0" indent="0">
              <a:buNone/>
            </a:pPr>
            <a:r>
              <a:rPr lang="en-US" dirty="0"/>
              <a:t>         			end</a:t>
            </a:r>
          </a:p>
          <a:p>
            <a:pPr marL="0" indent="0">
              <a:buNone/>
            </a:pPr>
            <a:r>
              <a:rPr lang="en-US" dirty="0"/>
              <a:t>			end</a:t>
            </a:r>
          </a:p>
          <a:p>
            <a:pPr marL="0" indent="0">
              <a:buNone/>
            </a:pPr>
            <a:r>
              <a:rPr lang="en-US" dirty="0">
                <a:latin typeface="Times New Roman" panose="02020603050405020304" pitchFamily="18" charset="0"/>
                <a:cs typeface="Times New Roman" panose="02020603050405020304" pitchFamily="18" charset="0"/>
              </a:rPr>
              <a:t>		End</a:t>
            </a:r>
            <a:endParaRPr lang="en-US" dirty="0">
              <a:solidFill>
                <a:srgbClr val="FFC000"/>
              </a:solidFill>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7350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C000"/>
                </a:solidFill>
                <a:latin typeface="Times New Roman" panose="02020603050405020304" pitchFamily="18" charset="0"/>
                <a:cs typeface="Times New Roman" panose="02020603050405020304" pitchFamily="18" charset="0"/>
              </a:rPr>
              <a:t>						EDGE DETECTION</a:t>
            </a:r>
            <a:endParaRPr lang="en-US" dirty="0"/>
          </a:p>
        </p:txBody>
      </p:sp>
      <p:sp>
        <p:nvSpPr>
          <p:cNvPr id="5" name="Text Placeholder 4"/>
          <p:cNvSpPr>
            <a:spLocks noGrp="1"/>
          </p:cNvSpPr>
          <p:nvPr>
            <p:ph type="body" idx="1"/>
          </p:nvPr>
        </p:nvSpPr>
        <p:spPr/>
        <p:txBody>
          <a:bodyPr/>
          <a:lstStyle/>
          <a:p>
            <a:r>
              <a:rPr lang="en-US" dirty="0">
                <a:solidFill>
                  <a:srgbClr val="FFC000"/>
                </a:solidFill>
                <a:latin typeface="Times New Roman" panose="02020603050405020304" pitchFamily="18" charset="0"/>
                <a:cs typeface="Times New Roman" panose="02020603050405020304" pitchFamily="18" charset="0"/>
              </a:rPr>
              <a:t>INPUT:</a:t>
            </a:r>
            <a:endParaRPr lang="en-US" dirty="0"/>
          </a:p>
        </p:txBody>
      </p:sp>
      <p:pic>
        <p:nvPicPr>
          <p:cNvPr id="9" name="Content Placeholder 8"/>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094705" y="3459041"/>
            <a:ext cx="3404454" cy="2362210"/>
          </a:xfrm>
        </p:spPr>
      </p:pic>
      <p:sp>
        <p:nvSpPr>
          <p:cNvPr id="7" name="Text Placeholder 6"/>
          <p:cNvSpPr>
            <a:spLocks noGrp="1"/>
          </p:cNvSpPr>
          <p:nvPr>
            <p:ph type="body" sz="quarter" idx="3"/>
          </p:nvPr>
        </p:nvSpPr>
        <p:spPr/>
        <p:txBody>
          <a:bodyPr/>
          <a:lstStyle/>
          <a:p>
            <a:r>
              <a:rPr lang="en-US" dirty="0">
                <a:solidFill>
                  <a:srgbClr val="FFC000"/>
                </a:solidFill>
                <a:latin typeface="Times New Roman" panose="02020603050405020304" pitchFamily="18" charset="0"/>
                <a:cs typeface="Times New Roman" panose="02020603050405020304" pitchFamily="18" charset="0"/>
              </a:rPr>
              <a:t>OUTPUT:</a:t>
            </a:r>
            <a:endParaRPr lang="en-US" dirty="0"/>
          </a:p>
        </p:txBody>
      </p:sp>
      <p:pic>
        <p:nvPicPr>
          <p:cNvPr id="10" name="Content Placeholder 9"/>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220497" y="3468566"/>
            <a:ext cx="3386440" cy="2314047"/>
          </a:xfrm>
        </p:spPr>
      </p:pic>
    </p:spTree>
    <p:extLst>
      <p:ext uri="{BB962C8B-B14F-4D97-AF65-F5344CB8AC3E}">
        <p14:creationId xmlns:p14="http://schemas.microsoft.com/office/powerpoint/2010/main" val="28858080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4437" y="1764406"/>
            <a:ext cx="10131425" cy="4520484"/>
          </a:xfrm>
        </p:spPr>
        <p:txBody>
          <a:bodyPr>
            <a:noAutofit/>
          </a:bodyPr>
          <a:lstStyle/>
          <a:p>
            <a:pPr marL="0" indent="0">
              <a:buNone/>
            </a:pPr>
            <a:r>
              <a:rPr lang="en-US" sz="2000" dirty="0">
                <a:solidFill>
                  <a:srgbClr val="FFC000"/>
                </a:solidFill>
                <a:latin typeface="Times New Roman" panose="02020603050405020304" pitchFamily="18" charset="0"/>
                <a:cs typeface="Times New Roman" panose="02020603050405020304" pitchFamily="18" charset="0"/>
              </a:rPr>
              <a:t>REGION SEGMENTATION:</a:t>
            </a:r>
          </a:p>
          <a:p>
            <a:pPr marL="0" indent="0">
              <a:buNone/>
            </a:pPr>
            <a:r>
              <a:rPr lang="en-US" sz="2000" dirty="0">
                <a:solidFill>
                  <a:srgbClr val="FFC000"/>
                </a:solidFill>
                <a:latin typeface="Times New Roman" panose="02020603050405020304" pitchFamily="18" charset="0"/>
                <a:cs typeface="Times New Roman" panose="02020603050405020304" pitchFamily="18" charset="0"/>
              </a:rPr>
              <a:t>INPUT:</a:t>
            </a:r>
          </a:p>
          <a:p>
            <a:pPr marL="0" indent="0">
              <a:buNone/>
            </a:pPr>
            <a:r>
              <a:rPr lang="en-US" sz="2000" dirty="0">
                <a:solidFill>
                  <a:srgbClr val="FFC000"/>
                </a:solidFill>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Image in which all possible edges detected. </a:t>
            </a:r>
          </a:p>
          <a:p>
            <a:pPr marL="0" indent="0">
              <a:buNone/>
            </a:pPr>
            <a:r>
              <a:rPr lang="en-US" sz="2000" dirty="0">
                <a:solidFill>
                  <a:srgbClr val="FFC000"/>
                </a:solidFill>
                <a:latin typeface="Times New Roman" panose="02020603050405020304" pitchFamily="18" charset="0"/>
                <a:cs typeface="Times New Roman" panose="02020603050405020304" pitchFamily="18" charset="0"/>
              </a:rPr>
              <a:t>OUTPUT:</a:t>
            </a:r>
          </a:p>
          <a:p>
            <a:pPr marL="0" indent="0">
              <a:buNone/>
            </a:pPr>
            <a:r>
              <a:rPr lang="en-US" sz="2000" dirty="0">
                <a:solidFill>
                  <a:srgbClr val="FFC000"/>
                </a:solidFill>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Object in the image are segmented.</a:t>
            </a:r>
          </a:p>
          <a:p>
            <a:pPr marL="0" indent="0">
              <a:buNone/>
            </a:pPr>
            <a:r>
              <a:rPr lang="en-US" sz="2000" dirty="0">
                <a:solidFill>
                  <a:srgbClr val="FFC000"/>
                </a:solidFill>
                <a:latin typeface="Times New Roman" panose="02020603050405020304" pitchFamily="18" charset="0"/>
                <a:cs typeface="Times New Roman" panose="02020603050405020304" pitchFamily="18" charset="0"/>
              </a:rPr>
              <a:t>ALGORITHM:</a:t>
            </a:r>
          </a:p>
          <a:p>
            <a:pPr marL="0" indent="0">
              <a:buNone/>
            </a:pPr>
            <a:r>
              <a:rPr lang="en-US" sz="2000" dirty="0">
                <a:solidFill>
                  <a:srgbClr val="FFC000"/>
                </a:solidFill>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Begin</a:t>
            </a:r>
          </a:p>
          <a:p>
            <a:pPr marL="0" indent="0">
              <a:buNone/>
            </a:pPr>
            <a:r>
              <a:rPr lang="en-US" sz="2000" dirty="0">
                <a:latin typeface="Times New Roman" panose="02020603050405020304" pitchFamily="18" charset="0"/>
                <a:cs typeface="Times New Roman" panose="02020603050405020304" pitchFamily="18" charset="0"/>
              </a:rPr>
              <a:t>			</a:t>
            </a:r>
            <a:r>
              <a:rPr lang="en-US" sz="2000" dirty="0"/>
              <a:t>for i=1:M </a:t>
            </a:r>
          </a:p>
          <a:p>
            <a:pPr marL="0" indent="0">
              <a:buNone/>
            </a:pPr>
            <a:r>
              <a:rPr lang="en-US" sz="2000" dirty="0"/>
              <a:t>				for j=1:N</a:t>
            </a:r>
          </a:p>
          <a:p>
            <a:pPr marL="0" indent="0">
              <a:buNone/>
            </a:pPr>
            <a:r>
              <a:rPr lang="pt-BR" sz="2000" dirty="0"/>
              <a:t>					d=sqrt((i-n1)^2+(j-n2)^2);         </a:t>
            </a:r>
          </a:p>
          <a:p>
            <a:pPr marL="0" indent="0">
              <a:buNone/>
            </a:pPr>
            <a:r>
              <a:rPr lang="en-US" sz="2000" dirty="0"/>
              <a:t>					h=1*</a:t>
            </a:r>
            <a:r>
              <a:rPr lang="en-US" sz="2000" dirty="0" err="1"/>
              <a:t>exp</a:t>
            </a:r>
            <a:r>
              <a:rPr lang="en-US" sz="2000" dirty="0"/>
              <a:t>(-1/2*(d^2/d0^2));  </a:t>
            </a:r>
          </a:p>
          <a:p>
            <a:pPr marL="0" indent="0">
              <a:buNone/>
            </a:pPr>
            <a:r>
              <a:rPr lang="en-US" sz="2000" dirty="0"/>
              <a:t>					</a:t>
            </a:r>
            <a:r>
              <a:rPr lang="en-US" sz="2000" dirty="0" err="1"/>
              <a:t>sB</a:t>
            </a:r>
            <a:r>
              <a:rPr lang="en-US" sz="2000" dirty="0"/>
              <a:t>(</a:t>
            </a:r>
            <a:r>
              <a:rPr lang="en-US" sz="2000" dirty="0" err="1"/>
              <a:t>i,j</a:t>
            </a:r>
            <a:r>
              <a:rPr lang="en-US" sz="2000" dirty="0"/>
              <a:t>)=h*</a:t>
            </a:r>
            <a:r>
              <a:rPr lang="en-US" sz="2000" dirty="0" err="1"/>
              <a:t>sB</a:t>
            </a:r>
            <a:r>
              <a:rPr lang="en-US" sz="2000" dirty="0"/>
              <a:t>(</a:t>
            </a:r>
            <a:r>
              <a:rPr lang="en-US" sz="2000" dirty="0" err="1"/>
              <a:t>i,j</a:t>
            </a:r>
            <a:r>
              <a:rPr lang="en-US" sz="2000" dirty="0"/>
              <a:t>);                   </a:t>
            </a:r>
          </a:p>
          <a:p>
            <a:pPr marL="0" indent="0">
              <a:buNone/>
            </a:pPr>
            <a:r>
              <a:rPr lang="en-US" sz="2000" dirty="0"/>
              <a:t>				end</a:t>
            </a:r>
          </a:p>
          <a:p>
            <a:pPr marL="0" indent="0">
              <a:buNone/>
            </a:pPr>
            <a:r>
              <a:rPr lang="en-US" sz="2000" dirty="0"/>
              <a:t>			end</a:t>
            </a:r>
          </a:p>
          <a:p>
            <a:pPr marL="0" indent="0">
              <a:buNone/>
            </a:pPr>
            <a:r>
              <a:rPr lang="en-US" sz="2000" dirty="0">
                <a:latin typeface="Times New Roman" panose="02020603050405020304" pitchFamily="18" charset="0"/>
                <a:cs typeface="Times New Roman" panose="02020603050405020304" pitchFamily="18" charset="0"/>
              </a:rPr>
              <a:t>		End</a:t>
            </a:r>
            <a:endParaRPr lang="en-US" sz="2000" dirty="0">
              <a:solidFill>
                <a:srgbClr val="FFC000"/>
              </a:solidFill>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27819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C000"/>
                </a:solidFill>
                <a:latin typeface="Times New Roman" panose="02020603050405020304" pitchFamily="18" charset="0"/>
                <a:cs typeface="Times New Roman" panose="02020603050405020304" pitchFamily="18" charset="0"/>
              </a:rPr>
              <a:t>					Region SEGMENTATION</a:t>
            </a:r>
            <a:endParaRPr lang="en-US" dirty="0"/>
          </a:p>
        </p:txBody>
      </p:sp>
      <p:sp>
        <p:nvSpPr>
          <p:cNvPr id="5" name="Text Placeholder 4"/>
          <p:cNvSpPr>
            <a:spLocks noGrp="1"/>
          </p:cNvSpPr>
          <p:nvPr>
            <p:ph type="body" idx="1"/>
          </p:nvPr>
        </p:nvSpPr>
        <p:spPr/>
        <p:txBody>
          <a:bodyPr/>
          <a:lstStyle/>
          <a:p>
            <a:r>
              <a:rPr lang="en-US" dirty="0">
                <a:solidFill>
                  <a:srgbClr val="FFC000"/>
                </a:solidFill>
                <a:latin typeface="Times New Roman" panose="02020603050405020304" pitchFamily="18" charset="0"/>
                <a:cs typeface="Times New Roman" panose="02020603050405020304" pitchFamily="18" charset="0"/>
              </a:rPr>
              <a:t>INPUT:</a:t>
            </a:r>
            <a:endParaRPr lang="en-US" dirty="0"/>
          </a:p>
        </p:txBody>
      </p:sp>
      <p:pic>
        <p:nvPicPr>
          <p:cNvPr id="9" name="Content Placeholder 8"/>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120462" y="3468566"/>
            <a:ext cx="3350117" cy="2339805"/>
          </a:xfrm>
        </p:spPr>
      </p:pic>
      <p:sp>
        <p:nvSpPr>
          <p:cNvPr id="7" name="Text Placeholder 6"/>
          <p:cNvSpPr>
            <a:spLocks noGrp="1"/>
          </p:cNvSpPr>
          <p:nvPr>
            <p:ph type="body" sz="quarter" idx="3"/>
          </p:nvPr>
        </p:nvSpPr>
        <p:spPr/>
        <p:txBody>
          <a:bodyPr/>
          <a:lstStyle/>
          <a:p>
            <a:r>
              <a:rPr lang="en-US" dirty="0">
                <a:solidFill>
                  <a:srgbClr val="FFC000"/>
                </a:solidFill>
                <a:latin typeface="Times New Roman" panose="02020603050405020304" pitchFamily="18" charset="0"/>
                <a:cs typeface="Times New Roman" panose="02020603050405020304" pitchFamily="18" charset="0"/>
              </a:rPr>
              <a:t>OUTPUT:</a:t>
            </a:r>
            <a:endParaRPr lang="en-US" dirty="0"/>
          </a:p>
        </p:txBody>
      </p:sp>
      <p:pic>
        <p:nvPicPr>
          <p:cNvPr id="10" name="Content Placeholder 9"/>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207618" y="3430462"/>
            <a:ext cx="3451714" cy="2262000"/>
          </a:xfrm>
        </p:spPr>
      </p:pic>
    </p:spTree>
    <p:extLst>
      <p:ext uri="{BB962C8B-B14F-4D97-AF65-F5344CB8AC3E}">
        <p14:creationId xmlns:p14="http://schemas.microsoft.com/office/powerpoint/2010/main" val="919804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1" y="1"/>
            <a:ext cx="10131425" cy="6709892"/>
          </a:xfrm>
        </p:spPr>
        <p:txBody>
          <a:bodyPr>
            <a:normAutofit/>
          </a:bodyPr>
          <a:lstStyle/>
          <a:p>
            <a:pPr marL="0" indent="0">
              <a:buNone/>
            </a:pPr>
            <a:r>
              <a:rPr lang="en-US" sz="2200" dirty="0">
                <a:solidFill>
                  <a:srgbClr val="FFC000"/>
                </a:solidFill>
                <a:latin typeface="Times New Roman" pitchFamily="18" charset="0"/>
                <a:cs typeface="Times New Roman" panose="02020603050405020304" pitchFamily="18" charset="0"/>
              </a:rPr>
              <a:t>FEATURE EXTRACTION: </a:t>
            </a:r>
          </a:p>
          <a:p>
            <a:pPr marL="0" indent="0">
              <a:buNone/>
            </a:pPr>
            <a:r>
              <a:rPr lang="en-US" sz="2200" dirty="0">
                <a:solidFill>
                  <a:srgbClr val="FFC000"/>
                </a:solidFill>
                <a:latin typeface="Times New Roman" pitchFamily="18" charset="0"/>
                <a:cs typeface="Times New Roman" panose="02020603050405020304" pitchFamily="18" charset="0"/>
              </a:rPr>
              <a:t>INPUT:</a:t>
            </a:r>
          </a:p>
          <a:p>
            <a:pPr marL="0" indent="0">
              <a:buNone/>
            </a:pPr>
            <a:r>
              <a:rPr lang="en-US" sz="2200" dirty="0">
                <a:solidFill>
                  <a:srgbClr val="FFC000"/>
                </a:solidFill>
                <a:latin typeface="Times New Roman"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Object in the image are segmented .</a:t>
            </a:r>
          </a:p>
          <a:p>
            <a:pPr marL="0" indent="0">
              <a:buNone/>
            </a:pPr>
            <a:r>
              <a:rPr lang="en-US" sz="2200" dirty="0">
                <a:solidFill>
                  <a:srgbClr val="FFC000"/>
                </a:solidFill>
                <a:latin typeface="Times New Roman" panose="02020603050405020304" pitchFamily="18" charset="0"/>
                <a:cs typeface="Times New Roman" panose="02020603050405020304" pitchFamily="18" charset="0"/>
              </a:rPr>
              <a:t>OUTPUT:</a:t>
            </a:r>
          </a:p>
          <a:p>
            <a:pPr marL="0" indent="0">
              <a:buNone/>
            </a:pPr>
            <a:r>
              <a:rPr lang="en-US" sz="2200" dirty="0">
                <a:solidFill>
                  <a:srgbClr val="FFC000"/>
                </a:solidFill>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Features are extracted from the Image.</a:t>
            </a:r>
          </a:p>
          <a:p>
            <a:pPr marL="0" indent="0">
              <a:buNone/>
            </a:pPr>
            <a:r>
              <a:rPr lang="en-US" sz="2200" dirty="0">
                <a:solidFill>
                  <a:srgbClr val="FFC000"/>
                </a:solidFill>
                <a:latin typeface="Times New Roman" panose="02020603050405020304" pitchFamily="18" charset="0"/>
                <a:cs typeface="Times New Roman" panose="02020603050405020304" pitchFamily="18" charset="0"/>
              </a:rPr>
              <a:t>ALGORITHM:</a:t>
            </a:r>
          </a:p>
          <a:p>
            <a:pPr marL="0" indent="0">
              <a:buNone/>
            </a:pPr>
            <a:r>
              <a:rPr lang="en-US" sz="2200" dirty="0">
                <a:solidFill>
                  <a:srgbClr val="FFC000"/>
                </a:solidFill>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Begin</a:t>
            </a:r>
          </a:p>
          <a:p>
            <a:pPr marL="0" indent="0">
              <a:buNone/>
            </a:pPr>
            <a:r>
              <a:rPr lang="en-US" sz="2200" dirty="0">
                <a:latin typeface="Times New Roman" panose="02020603050405020304" pitchFamily="18" charset="0"/>
                <a:cs typeface="Times New Roman" panose="02020603050405020304" pitchFamily="18" charset="0"/>
              </a:rPr>
              <a:t>				</a:t>
            </a:r>
            <a:r>
              <a:rPr lang="en-US" sz="2400" dirty="0"/>
              <a:t>gm1 = </a:t>
            </a:r>
            <a:r>
              <a:rPr lang="en-US" sz="2400" dirty="0" err="1"/>
              <a:t>graycomatrix</a:t>
            </a:r>
            <a:r>
              <a:rPr lang="en-US" sz="2400" dirty="0"/>
              <a:t>(D11);</a:t>
            </a:r>
          </a:p>
          <a:p>
            <a:pPr marL="0" indent="0">
              <a:buNone/>
            </a:pPr>
            <a:r>
              <a:rPr lang="en-US" sz="2400" dirty="0"/>
              <a:t>				gprops1 = </a:t>
            </a:r>
            <a:r>
              <a:rPr lang="en-US" sz="2400" dirty="0" err="1"/>
              <a:t>graycoprops</a:t>
            </a:r>
            <a:r>
              <a:rPr lang="en-US" sz="2400" dirty="0"/>
              <a:t>(gm1);</a:t>
            </a:r>
          </a:p>
          <a:p>
            <a:pPr marL="0" indent="0">
              <a:buNone/>
            </a:pPr>
            <a:r>
              <a:rPr lang="en-US" sz="2400" dirty="0"/>
              <a:t>				F1(1) = gprops1.Contrast; F1(2) = gprops1.Correlation;</a:t>
            </a:r>
          </a:p>
          <a:p>
            <a:pPr marL="0" indent="0">
              <a:buNone/>
            </a:pPr>
            <a:r>
              <a:rPr lang="en-US" sz="2400" dirty="0"/>
              <a:t>				F1(3) = gprops1.Energy; F1(4) = gprops1.Homogeneity;</a:t>
            </a:r>
          </a:p>
          <a:p>
            <a:pPr marL="0" indent="0">
              <a:buNone/>
            </a:pPr>
            <a:r>
              <a:rPr lang="en-US" sz="2200" dirty="0">
                <a:latin typeface="Times New Roman" panose="02020603050405020304" pitchFamily="18" charset="0"/>
                <a:cs typeface="Times New Roman" panose="02020603050405020304" pitchFamily="18" charset="0"/>
              </a:rPr>
              <a:t>		End</a:t>
            </a:r>
            <a:endParaRPr lang="en-US" sz="2200" dirty="0">
              <a:solidFill>
                <a:srgbClr val="FFC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49993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C000"/>
                </a:solidFill>
                <a:latin typeface="Times New Roman" pitchFamily="18" charset="0"/>
                <a:cs typeface="Times New Roman" panose="02020603050405020304" pitchFamily="18" charset="0"/>
              </a:rPr>
              <a:t>					FEATURE EXTRACTION</a:t>
            </a:r>
            <a:endParaRPr lang="en-US" dirty="0"/>
          </a:p>
        </p:txBody>
      </p:sp>
      <p:sp>
        <p:nvSpPr>
          <p:cNvPr id="5" name="Text Placeholder 4"/>
          <p:cNvSpPr>
            <a:spLocks noGrp="1"/>
          </p:cNvSpPr>
          <p:nvPr>
            <p:ph type="body" idx="1"/>
          </p:nvPr>
        </p:nvSpPr>
        <p:spPr/>
        <p:txBody>
          <a:bodyPr/>
          <a:lstStyle/>
          <a:p>
            <a:r>
              <a:rPr lang="en-US" dirty="0">
                <a:solidFill>
                  <a:srgbClr val="FFC000"/>
                </a:solidFill>
                <a:latin typeface="Times New Roman" panose="02020603050405020304" pitchFamily="18" charset="0"/>
                <a:cs typeface="Times New Roman" panose="02020603050405020304" pitchFamily="18" charset="0"/>
              </a:rPr>
              <a:t>INPUT:</a:t>
            </a:r>
            <a:endParaRPr lang="en-US" dirty="0"/>
          </a:p>
        </p:txBody>
      </p:sp>
      <p:pic>
        <p:nvPicPr>
          <p:cNvPr id="9" name="Content Placeholder 8"/>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094705" y="3430461"/>
            <a:ext cx="3428270" cy="2365031"/>
          </a:xfrm>
        </p:spPr>
      </p:pic>
      <p:sp>
        <p:nvSpPr>
          <p:cNvPr id="7" name="Text Placeholder 6"/>
          <p:cNvSpPr>
            <a:spLocks noGrp="1"/>
          </p:cNvSpPr>
          <p:nvPr>
            <p:ph type="body" sz="quarter" idx="3"/>
          </p:nvPr>
        </p:nvSpPr>
        <p:spPr/>
        <p:txBody>
          <a:bodyPr/>
          <a:lstStyle/>
          <a:p>
            <a:r>
              <a:rPr lang="en-US" dirty="0">
                <a:solidFill>
                  <a:srgbClr val="FFC000"/>
                </a:solidFill>
                <a:latin typeface="Times New Roman" panose="02020603050405020304" pitchFamily="18" charset="0"/>
                <a:cs typeface="Times New Roman" panose="02020603050405020304" pitchFamily="18" charset="0"/>
              </a:rPr>
              <a:t>OUTPUT:</a:t>
            </a:r>
            <a:endParaRPr lang="en-US" dirty="0"/>
          </a:p>
        </p:txBody>
      </p:sp>
      <p:pic>
        <p:nvPicPr>
          <p:cNvPr id="10" name="Content Placeholder 9"/>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194739" y="3356028"/>
            <a:ext cx="3495114" cy="2438741"/>
          </a:xfrm>
        </p:spPr>
      </p:pic>
    </p:spTree>
    <p:extLst>
      <p:ext uri="{BB962C8B-B14F-4D97-AF65-F5344CB8AC3E}">
        <p14:creationId xmlns:p14="http://schemas.microsoft.com/office/powerpoint/2010/main" val="10597122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1" y="1970467"/>
            <a:ext cx="10131425" cy="4700787"/>
          </a:xfrm>
        </p:spPr>
        <p:txBody>
          <a:bodyPr>
            <a:noAutofit/>
          </a:bodyPr>
          <a:lstStyle/>
          <a:p>
            <a:pPr marL="0" indent="0">
              <a:buNone/>
            </a:pPr>
            <a:r>
              <a:rPr lang="en-US" sz="2200" dirty="0">
                <a:solidFill>
                  <a:srgbClr val="FFC000"/>
                </a:solidFill>
                <a:latin typeface="Times New Roman" panose="02020603050405020304" pitchFamily="18" charset="0"/>
                <a:cs typeface="Times New Roman" panose="02020603050405020304" pitchFamily="18" charset="0"/>
              </a:rPr>
              <a:t>MULTI LABEL IMAGE ANNOTATION:</a:t>
            </a:r>
          </a:p>
          <a:p>
            <a:pPr marL="0" indent="0">
              <a:buNone/>
            </a:pPr>
            <a:r>
              <a:rPr lang="en-US" sz="2400" dirty="0">
                <a:solidFill>
                  <a:srgbClr val="FFC000"/>
                </a:solidFill>
                <a:latin typeface="Times New Roman" panose="02020603050405020304" pitchFamily="18" charset="0"/>
                <a:cs typeface="Times New Roman" panose="02020603050405020304" pitchFamily="18" charset="0"/>
              </a:rPr>
              <a:t>INPUT:</a:t>
            </a:r>
          </a:p>
          <a:p>
            <a:pPr marL="0" indent="0">
              <a:buNone/>
            </a:pPr>
            <a:r>
              <a:rPr lang="en-US" sz="2400" dirty="0">
                <a:solidFill>
                  <a:srgbClr val="FFC00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Features are extracted from the Image.</a:t>
            </a:r>
          </a:p>
          <a:p>
            <a:pPr marL="0" indent="0">
              <a:buNone/>
            </a:pPr>
            <a:r>
              <a:rPr lang="en-US" sz="2400" dirty="0">
                <a:solidFill>
                  <a:srgbClr val="FFC000"/>
                </a:solidFill>
                <a:latin typeface="Times New Roman" panose="02020603050405020304" pitchFamily="18" charset="0"/>
                <a:cs typeface="Times New Roman" panose="02020603050405020304" pitchFamily="18" charset="0"/>
              </a:rPr>
              <a:t>OUTPUT:</a:t>
            </a:r>
          </a:p>
          <a:p>
            <a:pPr marL="0" indent="0">
              <a:buNone/>
            </a:pPr>
            <a:r>
              <a:rPr lang="en-US" sz="2400" dirty="0">
                <a:solidFill>
                  <a:srgbClr val="FFC00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Object in the image are labeled.</a:t>
            </a:r>
          </a:p>
          <a:p>
            <a:pPr marL="0" indent="0">
              <a:buNone/>
            </a:pPr>
            <a:r>
              <a:rPr lang="en-US" sz="2400" dirty="0">
                <a:solidFill>
                  <a:srgbClr val="FFC000"/>
                </a:solidFill>
                <a:latin typeface="Times New Roman" panose="02020603050405020304" pitchFamily="18" charset="0"/>
                <a:cs typeface="Times New Roman" panose="02020603050405020304" pitchFamily="18" charset="0"/>
              </a:rPr>
              <a:t>ALGORITHM:</a:t>
            </a:r>
          </a:p>
          <a:p>
            <a:pPr marL="0" indent="0">
              <a:buNone/>
            </a:pPr>
            <a:r>
              <a:rPr lang="en-US" sz="2400" dirty="0">
                <a:solidFill>
                  <a:srgbClr val="FFC00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Begin</a:t>
            </a:r>
            <a:endParaRPr lang="en-US" sz="2400" dirty="0"/>
          </a:p>
          <a:p>
            <a:pPr marL="0" indent="0">
              <a:buNone/>
            </a:pPr>
            <a:r>
              <a:rPr lang="en-US" sz="2400" dirty="0"/>
              <a:t>		for k = 1:numel(s)</a:t>
            </a:r>
          </a:p>
          <a:p>
            <a:pPr marL="0" indent="0">
              <a:buNone/>
            </a:pPr>
            <a:r>
              <a:rPr lang="en-US" sz="2400" dirty="0"/>
              <a:t>    			c = s(k).Centroid;</a:t>
            </a:r>
          </a:p>
          <a:p>
            <a:pPr marL="0" indent="0">
              <a:buNone/>
            </a:pPr>
            <a:r>
              <a:rPr lang="en-US" sz="2400" dirty="0"/>
              <a:t>			text(c(1), c(2), </a:t>
            </a:r>
            <a:r>
              <a:rPr lang="en-US" sz="2400" dirty="0" err="1"/>
              <a:t>sprintf</a:t>
            </a:r>
            <a:r>
              <a:rPr lang="en-US" sz="2400" dirty="0"/>
              <a:t>('%d', k), ... '</a:t>
            </a:r>
            <a:r>
              <a:rPr lang="en-US" sz="2400" dirty="0" err="1"/>
              <a:t>HorizontalAlignment</a:t>
            </a:r>
            <a:r>
              <a:rPr lang="en-US" sz="2400" dirty="0"/>
              <a:t>', 'center', ... '</a:t>
            </a:r>
            <a:r>
              <a:rPr lang="en-US" sz="2400" dirty="0" err="1"/>
              <a:t>VerticalAlignment</a:t>
            </a:r>
            <a:r>
              <a:rPr lang="en-US" sz="2400" dirty="0"/>
              <a:t>', 'middle');</a:t>
            </a:r>
          </a:p>
          <a:p>
            <a:pPr marL="0" indent="0">
              <a:buNone/>
            </a:pPr>
            <a:r>
              <a:rPr lang="en-US" sz="2400" dirty="0"/>
              <a:t>		end</a:t>
            </a:r>
          </a:p>
          <a:p>
            <a:pPr marL="0" indent="0">
              <a:buNone/>
            </a:pPr>
            <a:r>
              <a:rPr lang="en-US" sz="2400" dirty="0"/>
              <a:t>	End</a:t>
            </a:r>
          </a:p>
          <a:p>
            <a:endParaRPr lang="en-US" sz="2200" dirty="0">
              <a:solidFill>
                <a:srgbClr val="FFC000"/>
              </a:solidFill>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pPr marL="0" indent="0">
              <a:buNone/>
            </a:pPr>
            <a:r>
              <a:rPr lang="en-US" sz="2200" dirty="0">
                <a:latin typeface="Times New Roman" panose="02020603050405020304" pitchFamily="18" charset="0"/>
                <a:cs typeface="Times New Roman" panose="02020603050405020304" pitchFamily="18" charset="0"/>
              </a:rPr>
              <a:t> </a:t>
            </a:r>
          </a:p>
          <a:p>
            <a:pPr marL="0" indent="0">
              <a:buNone/>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14147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C000"/>
                </a:solidFill>
                <a:latin typeface="Times New Roman" panose="02020603050405020304" pitchFamily="18" charset="0"/>
                <a:cs typeface="Times New Roman" panose="02020603050405020304" pitchFamily="18" charset="0"/>
              </a:rPr>
              <a:t>			MULTI LABEL IMAGE ANNOTATION</a:t>
            </a:r>
            <a:endParaRPr lang="en-US" dirty="0"/>
          </a:p>
        </p:txBody>
      </p:sp>
      <p:sp>
        <p:nvSpPr>
          <p:cNvPr id="5" name="Text Placeholder 4"/>
          <p:cNvSpPr>
            <a:spLocks noGrp="1"/>
          </p:cNvSpPr>
          <p:nvPr>
            <p:ph type="body" idx="1"/>
          </p:nvPr>
        </p:nvSpPr>
        <p:spPr/>
        <p:txBody>
          <a:bodyPr/>
          <a:lstStyle/>
          <a:p>
            <a:r>
              <a:rPr lang="en-US" dirty="0">
                <a:solidFill>
                  <a:srgbClr val="FFC000"/>
                </a:solidFill>
                <a:latin typeface="Times New Roman" panose="02020603050405020304" pitchFamily="18" charset="0"/>
                <a:cs typeface="Times New Roman" panose="02020603050405020304" pitchFamily="18" charset="0"/>
              </a:rPr>
              <a:t>INPUT:</a:t>
            </a:r>
            <a:endParaRPr lang="en-US" dirty="0"/>
          </a:p>
        </p:txBody>
      </p:sp>
      <p:pic>
        <p:nvPicPr>
          <p:cNvPr id="9" name="Content Placeholder 8"/>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056069" y="3430461"/>
            <a:ext cx="3466906" cy="2274879"/>
          </a:xfrm>
        </p:spPr>
      </p:pic>
      <p:sp>
        <p:nvSpPr>
          <p:cNvPr id="7" name="Text Placeholder 6"/>
          <p:cNvSpPr>
            <a:spLocks noGrp="1"/>
          </p:cNvSpPr>
          <p:nvPr>
            <p:ph type="body" sz="quarter" idx="3"/>
          </p:nvPr>
        </p:nvSpPr>
        <p:spPr/>
        <p:txBody>
          <a:bodyPr/>
          <a:lstStyle/>
          <a:p>
            <a:r>
              <a:rPr lang="en-US" dirty="0">
                <a:solidFill>
                  <a:srgbClr val="FFC000"/>
                </a:solidFill>
                <a:latin typeface="Times New Roman" panose="02020603050405020304" pitchFamily="18" charset="0"/>
                <a:cs typeface="Times New Roman" panose="02020603050405020304" pitchFamily="18" charset="0"/>
              </a:rPr>
              <a:t>OUTPUT:</a:t>
            </a:r>
            <a:endParaRPr lang="en-US" dirty="0"/>
          </a:p>
        </p:txBody>
      </p:sp>
      <p:pic>
        <p:nvPicPr>
          <p:cNvPr id="10" name="Content Placeholder 9"/>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310648" y="3420934"/>
            <a:ext cx="3324867" cy="2245769"/>
          </a:xfrm>
        </p:spPr>
      </p:pic>
    </p:spTree>
    <p:extLst>
      <p:ext uri="{BB962C8B-B14F-4D97-AF65-F5344CB8AC3E}">
        <p14:creationId xmlns:p14="http://schemas.microsoft.com/office/powerpoint/2010/main" val="3576839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2"/>
          <p:cNvSpPr>
            <a:spLocks noGrp="1"/>
          </p:cNvSpPr>
          <p:nvPr>
            <p:ph idx="1"/>
          </p:nvPr>
        </p:nvSpPr>
        <p:spPr>
          <a:xfrm>
            <a:off x="685801" y="90152"/>
            <a:ext cx="10131425" cy="6390161"/>
          </a:xfrm>
        </p:spPr>
        <p:txBody>
          <a:bodyPr>
            <a:noAutofit/>
          </a:bodyPr>
          <a:lstStyle/>
          <a:p>
            <a:pPr marL="0" indent="0">
              <a:buNone/>
            </a:pPr>
            <a:r>
              <a:rPr lang="en-US" sz="2200" dirty="0">
                <a:solidFill>
                  <a:srgbClr val="FFC000"/>
                </a:solidFill>
                <a:latin typeface="Times New Roman" pitchFamily="18" charset="0"/>
                <a:cs typeface="Times New Roman" panose="02020603050405020304" pitchFamily="18" charset="0"/>
              </a:rPr>
              <a:t>SIMILARITY COMPUTATION:</a:t>
            </a:r>
          </a:p>
          <a:p>
            <a:pPr marL="0" indent="0">
              <a:buNone/>
            </a:pPr>
            <a:r>
              <a:rPr lang="en-US" sz="2200" dirty="0">
                <a:latin typeface="Times New Roman" pitchFamily="18" charset="0"/>
                <a:cs typeface="Times New Roman" pitchFamily="18" charset="0"/>
              </a:rPr>
              <a:t>		The feature similarity measurement between </a:t>
            </a:r>
            <a:r>
              <a:rPr lang="en-US" sz="2200" i="1" dirty="0">
                <a:latin typeface="Times New Roman" pitchFamily="18" charset="0"/>
                <a:cs typeface="Times New Roman" pitchFamily="18" charset="0"/>
              </a:rPr>
              <a:t>f</a:t>
            </a:r>
            <a:r>
              <a:rPr lang="en-US" sz="2200" dirty="0">
                <a:latin typeface="Times New Roman" pitchFamily="18" charset="0"/>
                <a:cs typeface="Times New Roman" pitchFamily="18" charset="0"/>
              </a:rPr>
              <a:t>1(</a:t>
            </a:r>
            <a:r>
              <a:rPr lang="en-US" sz="2200" b="1" dirty="0">
                <a:latin typeface="Times New Roman" pitchFamily="18" charset="0"/>
                <a:cs typeface="Times New Roman" pitchFamily="18" charset="0"/>
              </a:rPr>
              <a:t>x</a:t>
            </a:r>
            <a:r>
              <a:rPr lang="en-US" sz="2200" dirty="0">
                <a:latin typeface="Times New Roman" pitchFamily="18" charset="0"/>
                <a:cs typeface="Times New Roman" pitchFamily="18" charset="0"/>
              </a:rPr>
              <a:t>) and </a:t>
            </a:r>
            <a:r>
              <a:rPr lang="en-US" sz="2200" i="1" dirty="0">
                <a:latin typeface="Times New Roman" pitchFamily="18" charset="0"/>
                <a:cs typeface="Times New Roman" pitchFamily="18" charset="0"/>
              </a:rPr>
              <a:t>f</a:t>
            </a:r>
            <a:r>
              <a:rPr lang="en-US" sz="2200" dirty="0">
                <a:latin typeface="Times New Roman" pitchFamily="18" charset="0"/>
                <a:cs typeface="Times New Roman" pitchFamily="18" charset="0"/>
              </a:rPr>
              <a:t>2(</a:t>
            </a:r>
            <a:r>
              <a:rPr lang="en-US" sz="2200" b="1" dirty="0">
                <a:latin typeface="Times New Roman" pitchFamily="18" charset="0"/>
                <a:cs typeface="Times New Roman" pitchFamily="18" charset="0"/>
              </a:rPr>
              <a:t>x</a:t>
            </a:r>
            <a:r>
              <a:rPr lang="en-US" sz="2200" dirty="0">
                <a:latin typeface="Times New Roman" pitchFamily="18" charset="0"/>
                <a:cs typeface="Times New Roman" pitchFamily="18" charset="0"/>
              </a:rPr>
              <a:t>) into two components, the FSIM index between </a:t>
            </a:r>
            <a:r>
              <a:rPr lang="en-US" sz="2200" i="1" dirty="0">
                <a:latin typeface="Times New Roman" pitchFamily="18" charset="0"/>
                <a:cs typeface="Times New Roman" pitchFamily="18" charset="0"/>
              </a:rPr>
              <a:t>f</a:t>
            </a:r>
            <a:r>
              <a:rPr lang="en-US" sz="2200" dirty="0">
                <a:latin typeface="Times New Roman" pitchFamily="18" charset="0"/>
                <a:cs typeface="Times New Roman" pitchFamily="18" charset="0"/>
              </a:rPr>
              <a:t>1 and </a:t>
            </a:r>
            <a:r>
              <a:rPr lang="en-US" sz="2200" i="1" dirty="0">
                <a:latin typeface="Times New Roman" pitchFamily="18" charset="0"/>
                <a:cs typeface="Times New Roman" pitchFamily="18" charset="0"/>
              </a:rPr>
              <a:t>f</a:t>
            </a:r>
            <a:r>
              <a:rPr lang="en-US" sz="2200" dirty="0">
                <a:latin typeface="Times New Roman" pitchFamily="18" charset="0"/>
                <a:cs typeface="Times New Roman" pitchFamily="18" charset="0"/>
              </a:rPr>
              <a:t>2 is defined as</a:t>
            </a:r>
            <a:endParaRPr lang="en-US" sz="2200" dirty="0">
              <a:solidFill>
                <a:srgbClr val="FFC000"/>
              </a:solidFill>
              <a:latin typeface="Times New Roman" panose="02020603050405020304" pitchFamily="18" charset="0"/>
              <a:cs typeface="Times New Roman" panose="02020603050405020304" pitchFamily="18" charset="0"/>
            </a:endParaRPr>
          </a:p>
          <a:p>
            <a:pPr marL="0" indent="0">
              <a:buNone/>
            </a:pPr>
            <a:endParaRPr lang="en-US" sz="2200" dirty="0">
              <a:solidFill>
                <a:srgbClr val="FFC000"/>
              </a:solidFill>
              <a:latin typeface="Times New Roman" panose="02020603050405020304" pitchFamily="18" charset="0"/>
              <a:cs typeface="Times New Roman" panose="02020603050405020304" pitchFamily="18" charset="0"/>
            </a:endParaRPr>
          </a:p>
          <a:p>
            <a:pPr marL="0" indent="0">
              <a:buNone/>
            </a:pPr>
            <a:endParaRPr lang="en-US" sz="2200" dirty="0">
              <a:solidFill>
                <a:srgbClr val="FFC000"/>
              </a:solidFill>
              <a:latin typeface="Times New Roman" panose="02020603050405020304" pitchFamily="18" charset="0"/>
              <a:cs typeface="Times New Roman" panose="02020603050405020304" pitchFamily="18" charset="0"/>
            </a:endParaRPr>
          </a:p>
          <a:p>
            <a:pPr marL="0" indent="0">
              <a:buNone/>
            </a:pPr>
            <a:endParaRPr lang="en-US" sz="2200" dirty="0">
              <a:solidFill>
                <a:srgbClr val="FFC000"/>
              </a:solidFill>
              <a:latin typeface="Times New Roman" panose="02020603050405020304" pitchFamily="18" charset="0"/>
              <a:cs typeface="Times New Roman" panose="02020603050405020304" pitchFamily="18" charset="0"/>
            </a:endParaRPr>
          </a:p>
          <a:p>
            <a:pPr marL="0" indent="0">
              <a:buNone/>
            </a:pPr>
            <a:r>
              <a:rPr lang="en-US" sz="2200" dirty="0">
                <a:latin typeface="Times New Roman" panose="02020603050405020304" pitchFamily="18" charset="0"/>
                <a:cs typeface="Times New Roman" panose="02020603050405020304" pitchFamily="18" charset="0"/>
              </a:rPr>
              <a:t>Where,</a:t>
            </a:r>
          </a:p>
          <a:p>
            <a:pPr marL="0" indent="0">
              <a:buNone/>
            </a:pPr>
            <a:endParaRPr lang="en-US" sz="2200" dirty="0">
              <a:solidFill>
                <a:srgbClr val="FFC000"/>
              </a:solidFill>
              <a:latin typeface="Times New Roman" panose="02020603050405020304" pitchFamily="18" charset="0"/>
              <a:cs typeface="Times New Roman" panose="02020603050405020304" pitchFamily="18" charset="0"/>
            </a:endParaRPr>
          </a:p>
          <a:p>
            <a:pPr marL="0" indent="0">
              <a:buNone/>
            </a:pPr>
            <a:endParaRPr lang="en-US" sz="2200" dirty="0">
              <a:solidFill>
                <a:srgbClr val="FFC000"/>
              </a:solidFill>
              <a:latin typeface="Times New Roman" panose="02020603050405020304" pitchFamily="18" charset="0"/>
              <a:cs typeface="Times New Roman" panose="02020603050405020304" pitchFamily="18" charset="0"/>
            </a:endParaRPr>
          </a:p>
          <a:p>
            <a:pPr marL="0" indent="0">
              <a:buNone/>
            </a:pPr>
            <a:endParaRPr lang="en-US" sz="2200" dirty="0">
              <a:solidFill>
                <a:srgbClr val="FFC000"/>
              </a:solidFill>
              <a:latin typeface="Times New Roman" panose="02020603050405020304" pitchFamily="18" charset="0"/>
              <a:cs typeface="Times New Roman" panose="02020603050405020304" pitchFamily="18" charset="0"/>
            </a:endParaRPr>
          </a:p>
          <a:p>
            <a:pPr marL="0" indent="0">
              <a:buNone/>
            </a:pPr>
            <a:endParaRPr lang="en-US" sz="2200" dirty="0">
              <a:solidFill>
                <a:srgbClr val="FFC000"/>
              </a:solidFill>
              <a:latin typeface="Times New Roman" panose="02020603050405020304" pitchFamily="18" charset="0"/>
              <a:cs typeface="Times New Roman" panose="02020603050405020304" pitchFamily="18" charset="0"/>
            </a:endParaRPr>
          </a:p>
          <a:p>
            <a:pPr marL="0" indent="0">
              <a:buNone/>
            </a:pPr>
            <a:endParaRPr lang="en-US" sz="2200" dirty="0">
              <a:solidFill>
                <a:srgbClr val="FFC000"/>
              </a:solidFill>
              <a:latin typeface="Times New Roman" panose="02020603050405020304" pitchFamily="18" charset="0"/>
              <a:cs typeface="Times New Roman" panose="02020603050405020304" pitchFamily="18" charset="0"/>
            </a:endParaRPr>
          </a:p>
          <a:p>
            <a:pPr marL="0" indent="0">
              <a:buNone/>
            </a:pPr>
            <a:endParaRPr lang="en-US" sz="2200" dirty="0">
              <a:solidFill>
                <a:srgbClr val="FFC000"/>
              </a:solidFill>
              <a:latin typeface="Times New Roman" panose="02020603050405020304" pitchFamily="18" charset="0"/>
              <a:cs typeface="Times New Roman" panose="02020603050405020304" pitchFamily="18" charset="0"/>
            </a:endParaRPr>
          </a:p>
        </p:txBody>
      </p:sp>
      <p:pic>
        <p:nvPicPr>
          <p:cNvPr id="11" name="Picture 10"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91368" y="5253797"/>
            <a:ext cx="3219900" cy="476317"/>
          </a:xfrm>
          <a:prstGeom prst="rect">
            <a:avLst/>
          </a:prstGeom>
        </p:spPr>
      </p:pic>
      <p:pic>
        <p:nvPicPr>
          <p:cNvPr id="12" name="Picture 11"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99499" y="2049935"/>
            <a:ext cx="3116455" cy="857370"/>
          </a:xfrm>
          <a:prstGeom prst="rect">
            <a:avLst/>
          </a:prstGeom>
        </p:spPr>
      </p:pic>
      <p:pic>
        <p:nvPicPr>
          <p:cNvPr id="13" name="Picture 12" descr="Screen Clippi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89871" y="5323866"/>
            <a:ext cx="3116455" cy="406248"/>
          </a:xfrm>
          <a:prstGeom prst="rect">
            <a:avLst/>
          </a:prstGeom>
        </p:spPr>
      </p:pic>
      <p:pic>
        <p:nvPicPr>
          <p:cNvPr id="14" name="Picture 13" descr="Screen Clippi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01216" y="3805730"/>
            <a:ext cx="3219900" cy="800212"/>
          </a:xfrm>
          <a:prstGeom prst="rect">
            <a:avLst/>
          </a:prstGeom>
        </p:spPr>
      </p:pic>
      <p:pic>
        <p:nvPicPr>
          <p:cNvPr id="15" name="Picture 14" descr="Screen Clipping"/>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99279" y="3805730"/>
            <a:ext cx="3168179" cy="847843"/>
          </a:xfrm>
          <a:prstGeom prst="rect">
            <a:avLst/>
          </a:prstGeom>
        </p:spPr>
      </p:pic>
    </p:spTree>
    <p:extLst>
      <p:ext uri="{BB962C8B-B14F-4D97-AF65-F5344CB8AC3E}">
        <p14:creationId xmlns:p14="http://schemas.microsoft.com/office/powerpoint/2010/main" val="18430942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1" y="347731"/>
            <a:ext cx="10131425" cy="6092826"/>
          </a:xfrm>
        </p:spPr>
        <p:txBody>
          <a:bodyPr>
            <a:noAutofit/>
          </a:bodyPr>
          <a:lstStyle/>
          <a:p>
            <a:pPr marL="0" indent="0">
              <a:buNone/>
            </a:pPr>
            <a:r>
              <a:rPr lang="en-US" sz="2200" dirty="0">
                <a:solidFill>
                  <a:srgbClr val="FFC000"/>
                </a:solidFill>
                <a:latin typeface="Times New Roman" panose="02020603050405020304" pitchFamily="18" charset="0"/>
                <a:cs typeface="Times New Roman" panose="02020603050405020304" pitchFamily="18" charset="0"/>
              </a:rPr>
              <a:t>SPATIAL RELATIONSHIP DETERMINATION:</a:t>
            </a:r>
          </a:p>
          <a:p>
            <a:r>
              <a:rPr lang="en-US" sz="2200" dirty="0">
                <a:latin typeface="Times New Roman" panose="02020603050405020304" pitchFamily="18" charset="0"/>
                <a:cs typeface="Times New Roman" panose="02020603050405020304" pitchFamily="18" charset="0"/>
              </a:rPr>
              <a:t>This module involves finding out the relationship between the identified labels.</a:t>
            </a:r>
          </a:p>
          <a:p>
            <a:r>
              <a:rPr lang="en-US" sz="2200" dirty="0">
                <a:latin typeface="Times New Roman" panose="02020603050405020304" pitchFamily="18" charset="0"/>
                <a:cs typeface="Times New Roman" panose="02020603050405020304" pitchFamily="18" charset="0"/>
              </a:rPr>
              <a:t>The relationship is </a:t>
            </a:r>
            <a:r>
              <a:rPr lang="en-US" sz="2200" dirty="0">
                <a:solidFill>
                  <a:srgbClr val="FFC000"/>
                </a:solidFill>
                <a:latin typeface="Times New Roman" panose="02020603050405020304" pitchFamily="18" charset="0"/>
                <a:cs typeface="Times New Roman" panose="02020603050405020304" pitchFamily="18" charset="0"/>
              </a:rPr>
              <a:t>Spatial</a:t>
            </a:r>
            <a:r>
              <a:rPr lang="en-US" sz="2200" dirty="0">
                <a:latin typeface="Times New Roman" panose="02020603050405020304" pitchFamily="18" charset="0"/>
                <a:cs typeface="Times New Roman" panose="02020603050405020304" pitchFamily="18" charset="0"/>
              </a:rPr>
              <a:t>, since it is a static image.</a:t>
            </a:r>
          </a:p>
          <a:p>
            <a:pPr marL="0" indent="0">
              <a:buNone/>
            </a:pPr>
            <a:endParaRPr lang="en-US" sz="2200" dirty="0">
              <a:solidFill>
                <a:srgbClr val="FFC000"/>
              </a:solidFill>
              <a:latin typeface="Times New Roman" panose="02020603050405020304" pitchFamily="18" charset="0"/>
              <a:cs typeface="Times New Roman" panose="02020603050405020304" pitchFamily="18" charset="0"/>
            </a:endParaRPr>
          </a:p>
          <a:p>
            <a:pPr marL="0" indent="0">
              <a:buNone/>
            </a:pPr>
            <a:endParaRPr lang="en-US" sz="2200" dirty="0">
              <a:solidFill>
                <a:srgbClr val="FFC000"/>
              </a:solidFill>
              <a:latin typeface="Times New Roman" panose="02020603050405020304" pitchFamily="18" charset="0"/>
              <a:cs typeface="Times New Roman" panose="02020603050405020304" pitchFamily="18" charset="0"/>
            </a:endParaRPr>
          </a:p>
          <a:p>
            <a:endParaRPr lang="en-US" sz="2200" dirty="0"/>
          </a:p>
          <a:p>
            <a:endParaRPr lang="en-US" sz="2200" dirty="0"/>
          </a:p>
          <a:p>
            <a:pPr marL="0" indent="0">
              <a:buNone/>
            </a:pPr>
            <a:r>
              <a:rPr lang="en-US" sz="2200" dirty="0"/>
              <a:t>	Where</a:t>
            </a:r>
          </a:p>
          <a:p>
            <a:pPr marL="0" indent="0">
              <a:buNone/>
            </a:pPr>
            <a:r>
              <a:rPr lang="en-US" sz="2200" dirty="0"/>
              <a:t>			Ø shows the angle of straight line between the </a:t>
            </a:r>
            <a:r>
              <a:rPr lang="en-US" sz="2200" dirty="0" err="1"/>
              <a:t>centres</a:t>
            </a:r>
            <a:r>
              <a:rPr lang="en-US" sz="2200" dirty="0"/>
              <a:t> of two objects.</a:t>
            </a:r>
          </a:p>
        </p:txBody>
      </p:sp>
      <p:pic>
        <p:nvPicPr>
          <p:cNvPr id="5" name="Picture 4"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1141" y="3099821"/>
            <a:ext cx="7202307" cy="1083197"/>
          </a:xfrm>
          <a:prstGeom prst="rect">
            <a:avLst/>
          </a:prstGeom>
        </p:spPr>
      </p:pic>
    </p:spTree>
    <p:extLst>
      <p:ext uri="{BB962C8B-B14F-4D97-AF65-F5344CB8AC3E}">
        <p14:creationId xmlns:p14="http://schemas.microsoft.com/office/powerpoint/2010/main" val="13371236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C000"/>
                </a:solidFill>
                <a:latin typeface="Times New Roman" panose="02020603050405020304" pitchFamily="18" charset="0"/>
                <a:cs typeface="Times New Roman" panose="02020603050405020304" pitchFamily="18" charset="0"/>
              </a:rPr>
              <a:t>    SPATIAL RELATIONSHIP DETERMINATION</a:t>
            </a:r>
            <a:br>
              <a:rPr lang="en-US" dirty="0">
                <a:solidFill>
                  <a:srgbClr val="FFC000"/>
                </a:solidFill>
                <a:latin typeface="Times New Roman" panose="02020603050405020304" pitchFamily="18" charset="0"/>
                <a:cs typeface="Times New Roman" panose="02020603050405020304" pitchFamily="18" charset="0"/>
              </a:rPr>
            </a:br>
            <a:endParaRPr lang="en-US" dirty="0"/>
          </a:p>
        </p:txBody>
      </p:sp>
      <p:sp>
        <p:nvSpPr>
          <p:cNvPr id="5" name="Text Placeholder 4"/>
          <p:cNvSpPr>
            <a:spLocks noGrp="1"/>
          </p:cNvSpPr>
          <p:nvPr>
            <p:ph type="body" idx="1"/>
          </p:nvPr>
        </p:nvSpPr>
        <p:spPr/>
        <p:txBody>
          <a:bodyPr/>
          <a:lstStyle/>
          <a:p>
            <a:r>
              <a:rPr lang="en-US" dirty="0">
                <a:solidFill>
                  <a:srgbClr val="FFC000"/>
                </a:solidFill>
                <a:latin typeface="Times New Roman" panose="02020603050405020304" pitchFamily="18" charset="0"/>
                <a:cs typeface="Times New Roman" panose="02020603050405020304" pitchFamily="18" charset="0"/>
              </a:rPr>
              <a:t>INPUT:</a:t>
            </a:r>
            <a:endParaRPr lang="en-US" dirty="0"/>
          </a:p>
        </p:txBody>
      </p:sp>
      <p:pic>
        <p:nvPicPr>
          <p:cNvPr id="9" name="Content Placeholder 8"/>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133341" y="3420936"/>
            <a:ext cx="3365817" cy="2284406"/>
          </a:xfrm>
        </p:spPr>
      </p:pic>
      <p:sp>
        <p:nvSpPr>
          <p:cNvPr id="7" name="Text Placeholder 6"/>
          <p:cNvSpPr>
            <a:spLocks noGrp="1"/>
          </p:cNvSpPr>
          <p:nvPr>
            <p:ph type="body" sz="quarter" idx="3"/>
          </p:nvPr>
        </p:nvSpPr>
        <p:spPr/>
        <p:txBody>
          <a:bodyPr/>
          <a:lstStyle/>
          <a:p>
            <a:r>
              <a:rPr lang="en-US" dirty="0">
                <a:solidFill>
                  <a:srgbClr val="FFC000"/>
                </a:solidFill>
                <a:latin typeface="Times New Roman" panose="02020603050405020304" pitchFamily="18" charset="0"/>
                <a:cs typeface="Times New Roman" panose="02020603050405020304" pitchFamily="18" charset="0"/>
              </a:rPr>
              <a:t>OUTPUT:</a:t>
            </a:r>
            <a:endParaRPr lang="en-US" dirty="0"/>
          </a:p>
        </p:txBody>
      </p:sp>
      <p:sp>
        <p:nvSpPr>
          <p:cNvPr id="8" name="Content Placeholder 7"/>
          <p:cNvSpPr>
            <a:spLocks noGrp="1"/>
          </p:cNvSpPr>
          <p:nvPr>
            <p:ph sz="quarter" idx="4"/>
          </p:nvPr>
        </p:nvSpPr>
        <p:spPr/>
        <p:txBody>
          <a:bodyPr/>
          <a:lstStyle/>
          <a:p>
            <a:pPr marL="0" indent="0">
              <a:buNone/>
            </a:pPr>
            <a:endParaRPr lang="en-US" dirty="0"/>
          </a:p>
          <a:p>
            <a:pPr marL="0" indent="0">
              <a:buNone/>
            </a:pPr>
            <a:endParaRPr lang="en-US" dirty="0"/>
          </a:p>
          <a:p>
            <a:pPr marL="0" indent="0">
              <a:buNone/>
            </a:pPr>
            <a:r>
              <a:rPr lang="en-US" dirty="0"/>
              <a:t>OBJECT 1		POSITION		OBJECT 2</a:t>
            </a:r>
          </a:p>
          <a:p>
            <a:pPr marL="0" indent="0">
              <a:buNone/>
            </a:pPr>
            <a:r>
              <a:rPr lang="en-US" dirty="0"/>
              <a:t>Flight 		mid position     sky</a:t>
            </a:r>
          </a:p>
        </p:txBody>
      </p:sp>
    </p:spTree>
    <p:extLst>
      <p:ext uri="{BB962C8B-B14F-4D97-AF65-F5344CB8AC3E}">
        <p14:creationId xmlns:p14="http://schemas.microsoft.com/office/powerpoint/2010/main" val="1610322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Performance metrics</a:t>
            </a:r>
          </a:p>
        </p:txBody>
      </p:sp>
      <p:sp>
        <p:nvSpPr>
          <p:cNvPr id="3" name="Content Placeholder 2"/>
          <p:cNvSpPr>
            <a:spLocks noGrp="1"/>
          </p:cNvSpPr>
          <p:nvPr>
            <p:ph idx="1"/>
          </p:nvPr>
        </p:nvSpPr>
        <p:spPr/>
        <p:txBody>
          <a:bodyPr>
            <a:normAutofit/>
          </a:bodyPr>
          <a:lstStyle/>
          <a:p>
            <a:pPr marL="1002045" lvl="1" indent="-514350" defTabSz="487695">
              <a:spcBef>
                <a:spcPts val="1067"/>
              </a:spcBef>
              <a:buSzPct val="80000"/>
            </a:pPr>
            <a:r>
              <a:rPr lang="en-US" sz="2200" dirty="0">
                <a:solidFill>
                  <a:schemeClr val="tx1">
                    <a:lumMod val="75000"/>
                    <a:lumOff val="25000"/>
                  </a:schemeClr>
                </a:solidFill>
                <a:latin typeface="Times New Roman" pitchFamily="18" charset="0"/>
                <a:cs typeface="Times New Roman" pitchFamily="18" charset="0"/>
              </a:rPr>
              <a:t>Precision</a:t>
            </a:r>
          </a:p>
          <a:p>
            <a:pPr marL="1002045" lvl="1" indent="-514350" defTabSz="487695">
              <a:spcBef>
                <a:spcPts val="1067"/>
              </a:spcBef>
              <a:buSzPct val="80000"/>
            </a:pPr>
            <a:r>
              <a:rPr lang="en-US" sz="2200" dirty="0">
                <a:solidFill>
                  <a:schemeClr val="tx1">
                    <a:lumMod val="75000"/>
                    <a:lumOff val="25000"/>
                  </a:schemeClr>
                </a:solidFill>
                <a:latin typeface="Times New Roman" pitchFamily="18" charset="0"/>
                <a:cs typeface="Times New Roman" pitchFamily="18" charset="0"/>
              </a:rPr>
              <a:t>Recall</a:t>
            </a:r>
          </a:p>
          <a:p>
            <a:pPr marL="1002045" lvl="1" indent="-514350" defTabSz="487695">
              <a:spcBef>
                <a:spcPts val="1067"/>
              </a:spcBef>
              <a:buSzPct val="80000"/>
            </a:pPr>
            <a:r>
              <a:rPr lang="en-US" sz="2200" dirty="0">
                <a:solidFill>
                  <a:schemeClr val="tx1">
                    <a:lumMod val="75000"/>
                    <a:lumOff val="25000"/>
                  </a:schemeClr>
                </a:solidFill>
                <a:latin typeface="Times New Roman" pitchFamily="18" charset="0"/>
                <a:cs typeface="Times New Roman" pitchFamily="18" charset="0"/>
              </a:rPr>
              <a:t>F-score</a:t>
            </a:r>
          </a:p>
          <a:p>
            <a:pPr marL="1002045" lvl="1" indent="-514350" defTabSz="487695">
              <a:spcBef>
                <a:spcPts val="1067"/>
              </a:spcBef>
              <a:buSzPct val="80000"/>
            </a:pPr>
            <a:r>
              <a:rPr lang="en-US" sz="2200" dirty="0">
                <a:solidFill>
                  <a:schemeClr val="tx1">
                    <a:lumMod val="75000"/>
                    <a:lumOff val="25000"/>
                  </a:schemeClr>
                </a:solidFill>
                <a:latin typeface="Times New Roman" pitchFamily="18" charset="0"/>
                <a:cs typeface="Times New Roman" pitchFamily="18" charset="0"/>
              </a:rPr>
              <a:t>Signal to Noise Ratio (SNF)</a:t>
            </a:r>
          </a:p>
          <a:p>
            <a:endParaRPr lang="en-US" sz="2200" dirty="0"/>
          </a:p>
        </p:txBody>
      </p:sp>
    </p:spTree>
    <p:extLst>
      <p:ext uri="{BB962C8B-B14F-4D97-AF65-F5344CB8AC3E}">
        <p14:creationId xmlns:p14="http://schemas.microsoft.com/office/powerpoint/2010/main" val="1058096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Performance metrics</a:t>
            </a:r>
          </a:p>
        </p:txBody>
      </p:sp>
      <p:sp>
        <p:nvSpPr>
          <p:cNvPr id="4" name="Content Placeholder 3"/>
          <p:cNvSpPr txBox="1">
            <a:spLocks noGrp="1"/>
          </p:cNvSpPr>
          <p:nvPr>
            <p:ph idx="1"/>
          </p:nvPr>
        </p:nvSpPr>
        <p:spPr>
          <a:xfrm>
            <a:off x="685801" y="1036346"/>
            <a:ext cx="10131425" cy="5860579"/>
          </a:xfrm>
          <a:prstGeom prst="rect">
            <a:avLst/>
          </a:prstGeom>
          <a:noFill/>
        </p:spPr>
        <p:txBody>
          <a:bodyPr wrap="square" rtlCol="0">
            <a:spAutoFit/>
          </a:bodyPr>
          <a:lstStyle/>
          <a:p>
            <a:pPr defTabSz="487695">
              <a:spcBef>
                <a:spcPts val="1067"/>
              </a:spcBef>
              <a:buSzPct val="80000"/>
            </a:pPr>
            <a:endParaRPr lang="en-US" sz="2200" b="1" dirty="0">
              <a:solidFill>
                <a:schemeClr val="tx1">
                  <a:lumMod val="75000"/>
                  <a:lumOff val="25000"/>
                </a:schemeClr>
              </a:solidFill>
              <a:latin typeface="Times New Roman" pitchFamily="18" charset="0"/>
              <a:cs typeface="Times New Roman" pitchFamily="18" charset="0"/>
            </a:endParaRPr>
          </a:p>
          <a:p>
            <a:pPr defTabSz="487695">
              <a:spcBef>
                <a:spcPts val="1067"/>
              </a:spcBef>
              <a:buSzPct val="80000"/>
            </a:pPr>
            <a:r>
              <a:rPr lang="en-US" sz="2200" b="1" dirty="0">
                <a:solidFill>
                  <a:schemeClr val="tx1">
                    <a:lumMod val="75000"/>
                    <a:lumOff val="25000"/>
                  </a:schemeClr>
                </a:solidFill>
                <a:latin typeface="Times New Roman" pitchFamily="18" charset="0"/>
                <a:cs typeface="Times New Roman" pitchFamily="18" charset="0"/>
              </a:rPr>
              <a:t> </a:t>
            </a:r>
            <a:r>
              <a:rPr lang="en-US" sz="2200" b="1" dirty="0">
                <a:solidFill>
                  <a:srgbClr val="FFC000"/>
                </a:solidFill>
                <a:latin typeface="Times New Roman" pitchFamily="18" charset="0"/>
                <a:cs typeface="Times New Roman" pitchFamily="18" charset="0"/>
              </a:rPr>
              <a:t>PRECISION</a:t>
            </a:r>
          </a:p>
          <a:p>
            <a:pPr marL="0" indent="0" defTabSz="487695">
              <a:spcBef>
                <a:spcPts val="1067"/>
              </a:spcBef>
              <a:buClr>
                <a:schemeClr val="accent1"/>
              </a:buClr>
              <a:buSzPct val="80000"/>
              <a:buNone/>
            </a:pPr>
            <a:r>
              <a:rPr lang="en-US" sz="2200" b="1" dirty="0">
                <a:solidFill>
                  <a:schemeClr val="tx1">
                    <a:lumMod val="75000"/>
                    <a:lumOff val="25000"/>
                  </a:schemeClr>
                </a:solidFill>
                <a:latin typeface="Times New Roman" pitchFamily="18" charset="0"/>
                <a:cs typeface="Times New Roman" pitchFamily="18" charset="0"/>
              </a:rPr>
              <a:t>		</a:t>
            </a:r>
            <a:r>
              <a:rPr lang="en-US" sz="2200" b="1" dirty="0">
                <a:latin typeface="Times New Roman" panose="02020603050405020304" pitchFamily="18" charset="0"/>
                <a:cs typeface="Times New Roman" panose="02020603050405020304" pitchFamily="18" charset="0"/>
              </a:rPr>
              <a:t>Precision</a:t>
            </a:r>
            <a:r>
              <a:rPr lang="en-US" sz="2200" dirty="0">
                <a:latin typeface="Times New Roman" panose="02020603050405020304" pitchFamily="18" charset="0"/>
                <a:cs typeface="Times New Roman" panose="02020603050405020304" pitchFamily="18" charset="0"/>
              </a:rPr>
              <a:t> (also called positive predictive value) is the fraction of retrieved textual description that are relevant.</a:t>
            </a:r>
            <a:endParaRPr lang="en-US" sz="2200" dirty="0">
              <a:solidFill>
                <a:schemeClr val="tx1">
                  <a:lumMod val="75000"/>
                  <a:lumOff val="25000"/>
                </a:schemeClr>
              </a:solidFill>
              <a:latin typeface="Times New Roman" pitchFamily="18" charset="0"/>
              <a:cs typeface="Times New Roman" pitchFamily="18" charset="0"/>
            </a:endParaRPr>
          </a:p>
          <a:p>
            <a:pPr marL="365771" indent="-365771" defTabSz="487695">
              <a:spcBef>
                <a:spcPts val="1067"/>
              </a:spcBef>
              <a:buClr>
                <a:schemeClr val="accent1"/>
              </a:buClr>
              <a:buSzPct val="80000"/>
            </a:pPr>
            <a:endParaRPr lang="en-US" sz="2200" b="1" dirty="0">
              <a:solidFill>
                <a:schemeClr val="tx1">
                  <a:lumMod val="75000"/>
                  <a:lumOff val="25000"/>
                </a:schemeClr>
              </a:solidFill>
              <a:latin typeface="Times New Roman" pitchFamily="18" charset="0"/>
              <a:cs typeface="Times New Roman" pitchFamily="18" charset="0"/>
            </a:endParaRPr>
          </a:p>
          <a:p>
            <a:endParaRPr lang="en-US" sz="2200" b="1" dirty="0">
              <a:latin typeface="Times New Roman" pitchFamily="18" charset="0"/>
              <a:cs typeface="Times New Roman" pitchFamily="18" charset="0"/>
            </a:endParaRPr>
          </a:p>
          <a:p>
            <a:endParaRPr lang="en-US" sz="2200" dirty="0">
              <a:latin typeface="Times New Roman" pitchFamily="18" charset="0"/>
              <a:cs typeface="Times New Roman" pitchFamily="18" charset="0"/>
            </a:endParaRPr>
          </a:p>
          <a:p>
            <a:pPr marL="0" indent="0">
              <a:buNone/>
            </a:pPr>
            <a:r>
              <a:rPr lang="en-US" sz="2200" dirty="0">
                <a:latin typeface="Times New Roman" pitchFamily="18" charset="0"/>
                <a:cs typeface="Times New Roman" pitchFamily="18" charset="0"/>
              </a:rPr>
              <a:t>Where,</a:t>
            </a:r>
          </a:p>
          <a:p>
            <a:pPr marL="0" indent="0">
              <a:buNone/>
            </a:pPr>
            <a:r>
              <a:rPr lang="en-US" sz="2200" i="1" dirty="0">
                <a:latin typeface="Times New Roman" panose="02020603050405020304" pitchFamily="18" charset="0"/>
                <a:cs typeface="Times New Roman" panose="02020603050405020304" pitchFamily="18" charset="0"/>
              </a:rPr>
              <a:t>	</a:t>
            </a:r>
            <a:r>
              <a:rPr lang="en-US" sz="2200" i="1" dirty="0" err="1">
                <a:latin typeface="Times New Roman" panose="02020603050405020304" pitchFamily="18" charset="0"/>
                <a:cs typeface="Times New Roman" panose="02020603050405020304" pitchFamily="18" charset="0"/>
              </a:rPr>
              <a:t>N</a:t>
            </a:r>
            <a:r>
              <a:rPr lang="en-US" sz="2200" i="1" baseline="-25000" dirty="0" err="1">
                <a:latin typeface="Times New Roman" panose="02020603050405020304" pitchFamily="18" charset="0"/>
                <a:cs typeface="Times New Roman" panose="02020603050405020304" pitchFamily="18" charset="0"/>
              </a:rPr>
              <a:t>c</a:t>
            </a:r>
            <a:r>
              <a:rPr lang="en-US" sz="2200" dirty="0">
                <a:latin typeface="Times New Roman" panose="02020603050405020304" pitchFamily="18" charset="0"/>
                <a:cs typeface="Times New Roman" panose="02020603050405020304" pitchFamily="18" charset="0"/>
              </a:rPr>
              <a:t>	:  number of correctly found textual description of the image.</a:t>
            </a:r>
          </a:p>
          <a:p>
            <a:pPr marL="0" indent="0">
              <a:buNone/>
            </a:pPr>
            <a:r>
              <a:rPr lang="en-US" sz="2200" i="1" dirty="0">
                <a:latin typeface="Times New Roman" panose="02020603050405020304" pitchFamily="18" charset="0"/>
                <a:cs typeface="Times New Roman" panose="02020603050405020304" pitchFamily="18" charset="0"/>
              </a:rPr>
              <a:t>	</a:t>
            </a:r>
            <a:r>
              <a:rPr lang="en-US" sz="2200" i="1" dirty="0" err="1">
                <a:latin typeface="Times New Roman" panose="02020603050405020304" pitchFamily="18" charset="0"/>
                <a:cs typeface="Times New Roman" panose="02020603050405020304" pitchFamily="18" charset="0"/>
              </a:rPr>
              <a:t>N</a:t>
            </a:r>
            <a:r>
              <a:rPr lang="en-US" sz="2200" i="1" baseline="-25000" dirty="0" err="1">
                <a:latin typeface="Times New Roman" panose="02020603050405020304" pitchFamily="18" charset="0"/>
                <a:cs typeface="Times New Roman" panose="02020603050405020304" pitchFamily="18" charset="0"/>
              </a:rPr>
              <a:t>f</a:t>
            </a:r>
            <a:r>
              <a:rPr lang="en-US" sz="2200" dirty="0">
                <a:latin typeface="Times New Roman" panose="02020603050405020304" pitchFamily="18" charset="0"/>
                <a:cs typeface="Times New Roman" panose="02020603050405020304" pitchFamily="18" charset="0"/>
              </a:rPr>
              <a:t>	:  number of false positives.</a:t>
            </a:r>
          </a:p>
          <a:p>
            <a:endParaRPr lang="en-US" sz="2200" b="1" dirty="0">
              <a:latin typeface="Times New Roman" pitchFamily="18" charset="0"/>
              <a:cs typeface="Times New Roman" pitchFamily="18" charset="0"/>
            </a:endParaRPr>
          </a:p>
          <a:p>
            <a:pPr algn="ctr"/>
            <a:endParaRPr lang="en-US" sz="2200" b="1" dirty="0">
              <a:latin typeface="Times New Roman" pitchFamily="18" charset="0"/>
              <a:cs typeface="Times New Roman" pitchFamily="18" charset="0"/>
            </a:endParaRPr>
          </a:p>
        </p:txBody>
      </p:sp>
      <p:pic>
        <p:nvPicPr>
          <p:cNvPr id="5" name="Picture 4" descr="precision.PNG"/>
          <p:cNvPicPr>
            <a:picLocks noChangeAspect="1"/>
          </p:cNvPicPr>
          <p:nvPr/>
        </p:nvPicPr>
        <p:blipFill>
          <a:blip r:embed="rId2" cstate="print"/>
          <a:stretch>
            <a:fillRect/>
          </a:stretch>
        </p:blipFill>
        <p:spPr>
          <a:xfrm>
            <a:off x="3409681" y="3176294"/>
            <a:ext cx="3581400" cy="966409"/>
          </a:xfrm>
          <a:prstGeom prst="rect">
            <a:avLst/>
          </a:prstGeom>
        </p:spPr>
      </p:pic>
    </p:spTree>
    <p:extLst>
      <p:ext uri="{BB962C8B-B14F-4D97-AF65-F5344CB8AC3E}">
        <p14:creationId xmlns:p14="http://schemas.microsoft.com/office/powerpoint/2010/main" val="32770525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Performance metrics</a:t>
            </a:r>
          </a:p>
        </p:txBody>
      </p:sp>
      <p:sp>
        <p:nvSpPr>
          <p:cNvPr id="4" name="Content Placeholder 3"/>
          <p:cNvSpPr txBox="1">
            <a:spLocks noGrp="1"/>
          </p:cNvSpPr>
          <p:nvPr>
            <p:ph idx="1"/>
          </p:nvPr>
        </p:nvSpPr>
        <p:spPr>
          <a:xfrm>
            <a:off x="685801" y="1481341"/>
            <a:ext cx="10131425" cy="4970591"/>
          </a:xfrm>
          <a:prstGeom prst="rect">
            <a:avLst/>
          </a:prstGeom>
          <a:noFill/>
        </p:spPr>
        <p:txBody>
          <a:bodyPr wrap="square" rtlCol="0">
            <a:spAutoFit/>
          </a:bodyPr>
          <a:lstStyle/>
          <a:p>
            <a:pPr defTabSz="487695">
              <a:spcBef>
                <a:spcPts val="1067"/>
              </a:spcBef>
              <a:buSzPct val="80000"/>
            </a:pPr>
            <a:r>
              <a:rPr lang="en-US" sz="2200" b="1" dirty="0">
                <a:solidFill>
                  <a:schemeClr val="tx1">
                    <a:lumMod val="75000"/>
                    <a:lumOff val="25000"/>
                  </a:schemeClr>
                </a:solidFill>
                <a:latin typeface="Times New Roman" panose="02020603050405020304" pitchFamily="18" charset="0"/>
                <a:cs typeface="Times New Roman" pitchFamily="18" charset="0"/>
              </a:rPr>
              <a:t> </a:t>
            </a:r>
            <a:r>
              <a:rPr lang="en-US" sz="2200" b="1" dirty="0">
                <a:solidFill>
                  <a:srgbClr val="FFC000"/>
                </a:solidFill>
                <a:latin typeface="Times New Roman" pitchFamily="18" charset="0"/>
                <a:cs typeface="Times New Roman" pitchFamily="18" charset="0"/>
              </a:rPr>
              <a:t>RECALL</a:t>
            </a:r>
          </a:p>
          <a:p>
            <a:pPr marL="0" indent="0">
              <a:buNone/>
            </a:pP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Recall</a:t>
            </a:r>
            <a:r>
              <a:rPr lang="en-US" sz="2200" dirty="0">
                <a:latin typeface="Times New Roman" panose="02020603050405020304" pitchFamily="18" charset="0"/>
                <a:cs typeface="Times New Roman" panose="02020603050405020304" pitchFamily="18" charset="0"/>
              </a:rPr>
              <a:t> (also known as sensitivity) is the fraction of relevant textual description that are retrieved.</a:t>
            </a:r>
          </a:p>
          <a:p>
            <a:endParaRPr lang="en-US" sz="2200" b="1" dirty="0">
              <a:latin typeface="Times New Roman" pitchFamily="18" charset="0"/>
              <a:cs typeface="Times New Roman" pitchFamily="18" charset="0"/>
            </a:endParaRPr>
          </a:p>
          <a:p>
            <a:endParaRPr lang="en-US" sz="2200" dirty="0">
              <a:latin typeface="Times New Roman" pitchFamily="18" charset="0"/>
              <a:cs typeface="Times New Roman" pitchFamily="18" charset="0"/>
            </a:endParaRPr>
          </a:p>
          <a:p>
            <a:pPr marL="0" indent="0">
              <a:buNone/>
            </a:pPr>
            <a:endParaRPr lang="en-US" sz="2200" dirty="0">
              <a:latin typeface="Times New Roman" pitchFamily="18" charset="0"/>
              <a:cs typeface="Times New Roman" pitchFamily="18" charset="0"/>
            </a:endParaRPr>
          </a:p>
          <a:p>
            <a:pPr marL="0" indent="0">
              <a:buNone/>
            </a:pPr>
            <a:r>
              <a:rPr lang="en-US" sz="2200" dirty="0">
                <a:latin typeface="Times New Roman" pitchFamily="18" charset="0"/>
                <a:cs typeface="Times New Roman" pitchFamily="18" charset="0"/>
              </a:rPr>
              <a:t>Where,</a:t>
            </a:r>
          </a:p>
          <a:p>
            <a:pPr marL="0" indent="0">
              <a:buNone/>
            </a:pPr>
            <a:r>
              <a:rPr lang="en-US" sz="2200" i="1" dirty="0">
                <a:latin typeface="Times New Roman" panose="02020603050405020304" pitchFamily="18" charset="0"/>
                <a:cs typeface="Times New Roman" panose="02020603050405020304" pitchFamily="18" charset="0"/>
              </a:rPr>
              <a:t>	</a:t>
            </a:r>
            <a:r>
              <a:rPr lang="en-US" sz="2200" i="1" dirty="0" err="1">
                <a:latin typeface="Times New Roman" panose="02020603050405020304" pitchFamily="18" charset="0"/>
                <a:cs typeface="Times New Roman" panose="02020603050405020304" pitchFamily="18" charset="0"/>
              </a:rPr>
              <a:t>N</a:t>
            </a:r>
            <a:r>
              <a:rPr lang="en-US" sz="2200" i="1" baseline="-25000" dirty="0" err="1">
                <a:latin typeface="Times New Roman" panose="02020603050405020304" pitchFamily="18" charset="0"/>
                <a:cs typeface="Times New Roman" panose="02020603050405020304" pitchFamily="18" charset="0"/>
              </a:rPr>
              <a:t>c</a:t>
            </a:r>
            <a:r>
              <a:rPr lang="en-US" sz="2200" dirty="0">
                <a:latin typeface="Times New Roman" panose="02020603050405020304" pitchFamily="18" charset="0"/>
                <a:cs typeface="Times New Roman" panose="02020603050405020304" pitchFamily="18" charset="0"/>
              </a:rPr>
              <a:t>	:  number of correctly found textual description of the image.</a:t>
            </a:r>
          </a:p>
          <a:p>
            <a:pPr marL="0" indent="0">
              <a:buNone/>
            </a:pPr>
            <a:r>
              <a:rPr lang="en-US" sz="2200" i="1" dirty="0">
                <a:latin typeface="Times New Roman" panose="02020603050405020304" pitchFamily="18" charset="0"/>
                <a:cs typeface="Times New Roman" panose="02020603050405020304" pitchFamily="18" charset="0"/>
              </a:rPr>
              <a:t>	</a:t>
            </a:r>
            <a:r>
              <a:rPr lang="en-US" sz="2200" i="1" dirty="0" err="1">
                <a:latin typeface="Times New Roman" panose="02020603050405020304" pitchFamily="18" charset="0"/>
                <a:cs typeface="Times New Roman" panose="02020603050405020304" pitchFamily="18" charset="0"/>
              </a:rPr>
              <a:t>N</a:t>
            </a:r>
            <a:r>
              <a:rPr lang="en-US" sz="2200" i="1" baseline="-25000" dirty="0" err="1">
                <a:latin typeface="Times New Roman" panose="02020603050405020304" pitchFamily="18" charset="0"/>
                <a:cs typeface="Times New Roman" panose="02020603050405020304" pitchFamily="18" charset="0"/>
              </a:rPr>
              <a:t>f</a:t>
            </a:r>
            <a:r>
              <a:rPr lang="en-US" sz="2200" dirty="0">
                <a:latin typeface="Times New Roman" panose="02020603050405020304" pitchFamily="18" charset="0"/>
                <a:cs typeface="Times New Roman" panose="02020603050405020304" pitchFamily="18" charset="0"/>
              </a:rPr>
              <a:t>	:  number of false positives.</a:t>
            </a:r>
          </a:p>
          <a:p>
            <a:endParaRPr lang="en-US" sz="2200" b="1" dirty="0">
              <a:latin typeface="Times New Roman" pitchFamily="18" charset="0"/>
              <a:cs typeface="Times New Roman" pitchFamily="18" charset="0"/>
            </a:endParaRPr>
          </a:p>
          <a:p>
            <a:pPr algn="ctr"/>
            <a:endParaRPr lang="en-US" sz="2200" b="1" dirty="0">
              <a:latin typeface="Times New Roman" pitchFamily="18" charset="0"/>
              <a:cs typeface="Times New Roman" pitchFamily="18" charset="0"/>
            </a:endParaRPr>
          </a:p>
        </p:txBody>
      </p:sp>
      <p:pic>
        <p:nvPicPr>
          <p:cNvPr id="6" name="Picture 5" descr="recall.PNG"/>
          <p:cNvPicPr>
            <a:picLocks noChangeAspect="1"/>
          </p:cNvPicPr>
          <p:nvPr/>
        </p:nvPicPr>
        <p:blipFill>
          <a:blip r:embed="rId2" cstate="print"/>
          <a:stretch>
            <a:fillRect/>
          </a:stretch>
        </p:blipFill>
        <p:spPr>
          <a:xfrm>
            <a:off x="3244403" y="3047999"/>
            <a:ext cx="4016987" cy="1171621"/>
          </a:xfrm>
          <a:prstGeom prst="rect">
            <a:avLst/>
          </a:prstGeom>
        </p:spPr>
      </p:pic>
    </p:spTree>
    <p:extLst>
      <p:ext uri="{BB962C8B-B14F-4D97-AF65-F5344CB8AC3E}">
        <p14:creationId xmlns:p14="http://schemas.microsoft.com/office/powerpoint/2010/main" val="37998600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Performance metrics</a:t>
            </a:r>
          </a:p>
        </p:txBody>
      </p:sp>
      <p:sp>
        <p:nvSpPr>
          <p:cNvPr id="4" name="Content Placeholder 3"/>
          <p:cNvSpPr txBox="1">
            <a:spLocks noGrp="1"/>
          </p:cNvSpPr>
          <p:nvPr>
            <p:ph idx="1"/>
          </p:nvPr>
        </p:nvSpPr>
        <p:spPr>
          <a:xfrm>
            <a:off x="685801" y="2245651"/>
            <a:ext cx="10131425" cy="3441968"/>
          </a:xfrm>
          <a:prstGeom prst="rect">
            <a:avLst/>
          </a:prstGeom>
          <a:noFill/>
        </p:spPr>
        <p:txBody>
          <a:bodyPr wrap="square" rtlCol="0">
            <a:spAutoFit/>
          </a:bodyPr>
          <a:lstStyle/>
          <a:p>
            <a:pPr defTabSz="487695">
              <a:spcBef>
                <a:spcPts val="1067"/>
              </a:spcBef>
              <a:buSzPct val="80000"/>
              <a:buFont typeface="Arial" pitchFamily="34" charset="0"/>
              <a:buChar char="•"/>
            </a:pPr>
            <a:r>
              <a:rPr lang="en-US" sz="2200" b="1" dirty="0">
                <a:solidFill>
                  <a:srgbClr val="FFC000"/>
                </a:solidFill>
                <a:latin typeface="Times New Roman" pitchFamily="18" charset="0"/>
                <a:cs typeface="Times New Roman" pitchFamily="18" charset="0"/>
              </a:rPr>
              <a:t>F-SCORE</a:t>
            </a:r>
          </a:p>
          <a:p>
            <a:pPr marL="0" indent="0">
              <a:buNone/>
            </a:pPr>
            <a:r>
              <a:rPr lang="en-US" sz="2200" b="1" dirty="0">
                <a:solidFill>
                  <a:schemeClr val="tx1">
                    <a:lumMod val="75000"/>
                    <a:lumOff val="25000"/>
                  </a:schemeClr>
                </a:solidFill>
                <a:latin typeface="Times New Roman" pitchFamily="18" charset="0"/>
                <a:cs typeface="Times New Roman" pitchFamily="18" charset="0"/>
              </a:rPr>
              <a:t>		</a:t>
            </a:r>
            <a:r>
              <a:rPr lang="en-US" sz="2200" dirty="0">
                <a:solidFill>
                  <a:schemeClr val="tx1">
                    <a:lumMod val="75000"/>
                    <a:lumOff val="25000"/>
                  </a:schemeClr>
                </a:solidFill>
                <a:latin typeface="Times New Roman" pitchFamily="18" charset="0"/>
                <a:cs typeface="Times New Roman" pitchFamily="18" charset="0"/>
              </a:rPr>
              <a:t>F-score is computed as the harmonic mean of precision and recall. Recall measures how well the system can retrieve the true ground truth partition points, and high precision ensures that it does not over predict the true topic partitions.</a:t>
            </a:r>
          </a:p>
          <a:p>
            <a:pPr marL="0" indent="0">
              <a:buNone/>
            </a:pPr>
            <a:endParaRPr lang="en-US" sz="2200" dirty="0">
              <a:solidFill>
                <a:schemeClr val="tx1">
                  <a:lumMod val="75000"/>
                  <a:lumOff val="25000"/>
                </a:schemeClr>
              </a:solidFill>
              <a:latin typeface="Times New Roman" pitchFamily="18" charset="0"/>
              <a:cs typeface="Times New Roman" pitchFamily="18" charset="0"/>
            </a:endParaRPr>
          </a:p>
          <a:p>
            <a:pPr marL="0" indent="0">
              <a:buNone/>
            </a:pPr>
            <a:r>
              <a:rPr lang="en-US" sz="2200" dirty="0">
                <a:solidFill>
                  <a:schemeClr val="tx1">
                    <a:lumMod val="75000"/>
                    <a:lumOff val="25000"/>
                  </a:schemeClr>
                </a:solidFill>
                <a:latin typeface="Times New Roman" pitchFamily="18" charset="0"/>
                <a:cs typeface="Times New Roman" pitchFamily="18" charset="0"/>
              </a:rPr>
              <a:t>                 </a:t>
            </a:r>
          </a:p>
          <a:p>
            <a:pPr marL="0" indent="0">
              <a:buNone/>
            </a:pPr>
            <a:endParaRPr lang="en-US" sz="2200" b="1" dirty="0">
              <a:latin typeface="Times New Roman" pitchFamily="18" charset="0"/>
              <a:cs typeface="Times New Roman" pitchFamily="18" charset="0"/>
            </a:endParaRPr>
          </a:p>
          <a:p>
            <a:pPr algn="ctr"/>
            <a:endParaRPr lang="en-US" sz="2200" b="1" dirty="0">
              <a:latin typeface="Times New Roman" pitchFamily="18" charset="0"/>
              <a:cs typeface="Times New Roman" pitchFamily="18" charset="0"/>
            </a:endParaRPr>
          </a:p>
        </p:txBody>
      </p:sp>
      <p:pic>
        <p:nvPicPr>
          <p:cNvPr id="6" name="Picture 5" descr="fscore.png"/>
          <p:cNvPicPr>
            <a:picLocks noChangeAspect="1"/>
          </p:cNvPicPr>
          <p:nvPr/>
        </p:nvPicPr>
        <p:blipFill>
          <a:blip r:embed="rId2" cstate="print"/>
          <a:stretch>
            <a:fillRect/>
          </a:stretch>
        </p:blipFill>
        <p:spPr>
          <a:xfrm>
            <a:off x="3344214" y="4183487"/>
            <a:ext cx="3576689" cy="1066800"/>
          </a:xfrm>
          <a:prstGeom prst="rect">
            <a:avLst/>
          </a:prstGeom>
        </p:spPr>
      </p:pic>
    </p:spTree>
    <p:extLst>
      <p:ext uri="{BB962C8B-B14F-4D97-AF65-F5344CB8AC3E}">
        <p14:creationId xmlns:p14="http://schemas.microsoft.com/office/powerpoint/2010/main" val="7732275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1"/>
            <a:ext cx="10131425" cy="1648496"/>
          </a:xfrm>
        </p:spPr>
        <p:txBody>
          <a:bodyPr/>
          <a:lstStyle/>
          <a:p>
            <a:r>
              <a:rPr lang="en-US" dirty="0"/>
              <a:t>					Performance metrics</a:t>
            </a:r>
          </a:p>
        </p:txBody>
      </p:sp>
      <p:sp>
        <p:nvSpPr>
          <p:cNvPr id="4" name="Content Placeholder 3"/>
          <p:cNvSpPr txBox="1">
            <a:spLocks noGrp="1"/>
          </p:cNvSpPr>
          <p:nvPr>
            <p:ph idx="1"/>
          </p:nvPr>
        </p:nvSpPr>
        <p:spPr>
          <a:xfrm>
            <a:off x="685801" y="1417221"/>
            <a:ext cx="10131425" cy="5098832"/>
          </a:xfrm>
          <a:prstGeom prst="rect">
            <a:avLst/>
          </a:prstGeom>
          <a:noFill/>
        </p:spPr>
        <p:txBody>
          <a:bodyPr wrap="square" rtlCol="0">
            <a:spAutoFit/>
          </a:bodyPr>
          <a:lstStyle/>
          <a:p>
            <a:pPr marL="285750" lvl="1" defTabSz="487695">
              <a:spcBef>
                <a:spcPts val="1067"/>
              </a:spcBef>
              <a:buSzPct val="80000"/>
              <a:buFont typeface="Arial" pitchFamily="34" charset="0"/>
              <a:buChar char="•"/>
            </a:pPr>
            <a:r>
              <a:rPr lang="en-US" sz="2200" b="1" dirty="0">
                <a:solidFill>
                  <a:srgbClr val="FFC000"/>
                </a:solidFill>
                <a:latin typeface="Times New Roman" pitchFamily="18" charset="0"/>
                <a:cs typeface="Times New Roman" pitchFamily="18" charset="0"/>
              </a:rPr>
              <a:t>SIGNAL</a:t>
            </a:r>
            <a:r>
              <a:rPr lang="en-US" sz="2200" dirty="0">
                <a:solidFill>
                  <a:srgbClr val="FFC000"/>
                </a:solidFill>
                <a:latin typeface="Times New Roman" pitchFamily="18" charset="0"/>
                <a:cs typeface="Times New Roman" pitchFamily="18" charset="0"/>
              </a:rPr>
              <a:t> </a:t>
            </a:r>
            <a:r>
              <a:rPr lang="en-US" sz="2200" b="1" dirty="0">
                <a:solidFill>
                  <a:srgbClr val="FFC000"/>
                </a:solidFill>
                <a:latin typeface="Times New Roman" pitchFamily="18" charset="0"/>
                <a:cs typeface="Times New Roman" pitchFamily="18" charset="0"/>
              </a:rPr>
              <a:t>TO NOISE RATIO (SNR)</a:t>
            </a:r>
          </a:p>
          <a:p>
            <a:pPr marL="0" indent="0">
              <a:buNone/>
            </a:pPr>
            <a:r>
              <a:rPr lang="en-US" sz="2200" b="1" dirty="0">
                <a:solidFill>
                  <a:schemeClr val="tx1">
                    <a:lumMod val="75000"/>
                    <a:lumOff val="25000"/>
                  </a:schemeClr>
                </a:solidFill>
                <a:latin typeface="Times New Roman" pitchFamily="18" charset="0"/>
                <a:cs typeface="Times New Roman" pitchFamily="18" charset="0"/>
              </a:rPr>
              <a:t>		</a:t>
            </a:r>
            <a:r>
              <a:rPr lang="en-US" sz="2200" dirty="0">
                <a:solidFill>
                  <a:schemeClr val="tx1">
                    <a:lumMod val="75000"/>
                    <a:lumOff val="25000"/>
                  </a:schemeClr>
                </a:solidFill>
                <a:latin typeface="Times New Roman" pitchFamily="18" charset="0"/>
                <a:cs typeface="Times New Roman" pitchFamily="18" charset="0"/>
              </a:rPr>
              <a:t>SNR is used to evaluate </a:t>
            </a:r>
            <a:r>
              <a:rPr lang="en-US" sz="2200" dirty="0">
                <a:latin typeface="Times New Roman" pitchFamily="18" charset="0"/>
                <a:cs typeface="Times New Roman" pitchFamily="18" charset="0"/>
              </a:rPr>
              <a:t>preprocessing algorithms in small target images</a:t>
            </a:r>
            <a:r>
              <a:rPr lang="en-US" sz="2200" dirty="0">
                <a:solidFill>
                  <a:schemeClr val="tx1">
                    <a:lumMod val="75000"/>
                    <a:lumOff val="25000"/>
                  </a:schemeClr>
                </a:solidFill>
                <a:latin typeface="Times New Roman" pitchFamily="18" charset="0"/>
                <a:cs typeface="Times New Roman" pitchFamily="18" charset="0"/>
              </a:rPr>
              <a:t>.</a:t>
            </a:r>
          </a:p>
          <a:p>
            <a:pPr marL="0" indent="0">
              <a:buNone/>
            </a:pPr>
            <a:r>
              <a:rPr lang="en-US" sz="2200" dirty="0">
                <a:solidFill>
                  <a:schemeClr val="tx1">
                    <a:lumMod val="75000"/>
                    <a:lumOff val="25000"/>
                  </a:schemeClr>
                </a:solidFill>
                <a:latin typeface="Times New Roman" pitchFamily="18" charset="0"/>
                <a:cs typeface="Times New Roman" pitchFamily="18" charset="0"/>
              </a:rPr>
              <a:t>              </a:t>
            </a:r>
          </a:p>
          <a:p>
            <a:pPr marL="0" indent="0">
              <a:buNone/>
            </a:pPr>
            <a:endParaRPr lang="en-US" sz="2200" b="1" dirty="0">
              <a:latin typeface="Times New Roman" pitchFamily="18" charset="0"/>
              <a:cs typeface="Times New Roman" pitchFamily="18" charset="0"/>
            </a:endParaRPr>
          </a:p>
          <a:p>
            <a:pPr marL="0" indent="0">
              <a:buNone/>
            </a:pPr>
            <a:r>
              <a:rPr lang="en-US" sz="2200" dirty="0">
                <a:latin typeface="Times New Roman" pitchFamily="18" charset="0"/>
                <a:cs typeface="Times New Roman" pitchFamily="18" charset="0"/>
              </a:rPr>
              <a:t>Where,</a:t>
            </a:r>
          </a:p>
          <a:p>
            <a:pPr marL="0" indent="0">
              <a:buNone/>
            </a:pPr>
            <a:r>
              <a:rPr lang="en-US" sz="2200" b="1" dirty="0">
                <a:latin typeface="Times New Roman" pitchFamily="18" charset="0"/>
                <a:cs typeface="Times New Roman" pitchFamily="18" charset="0"/>
              </a:rPr>
              <a:t>	</a:t>
            </a:r>
            <a:r>
              <a:rPr lang="en-US" sz="2200" dirty="0" err="1">
                <a:latin typeface="Times New Roman" pitchFamily="18" charset="0"/>
                <a:cs typeface="Times New Roman" pitchFamily="18" charset="0"/>
              </a:rPr>
              <a:t>SNR</a:t>
            </a:r>
            <a:r>
              <a:rPr lang="en-US" sz="2200" baseline="-25000" dirty="0" err="1">
                <a:latin typeface="Times New Roman" pitchFamily="18" charset="0"/>
                <a:cs typeface="Times New Roman" pitchFamily="18" charset="0"/>
              </a:rPr>
              <a:t>in</a:t>
            </a:r>
            <a:r>
              <a:rPr lang="en-US" sz="2200" dirty="0">
                <a:latin typeface="Times New Roman" pitchFamily="18" charset="0"/>
                <a:cs typeface="Times New Roman" pitchFamily="18" charset="0"/>
              </a:rPr>
              <a:t>	:	Input image for the preprocessing algorithm</a:t>
            </a:r>
          </a:p>
          <a:p>
            <a:pPr marL="0" indent="0">
              <a:buNone/>
            </a:pP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SNR</a:t>
            </a:r>
            <a:r>
              <a:rPr lang="en-US" sz="2200" baseline="-25000" dirty="0" err="1">
                <a:latin typeface="Times New Roman" pitchFamily="18" charset="0"/>
                <a:cs typeface="Times New Roman" pitchFamily="18" charset="0"/>
              </a:rPr>
              <a:t>out</a:t>
            </a:r>
            <a:r>
              <a:rPr lang="en-US" sz="2200" dirty="0">
                <a:latin typeface="Times New Roman" pitchFamily="18" charset="0"/>
                <a:cs typeface="Times New Roman" pitchFamily="18" charset="0"/>
              </a:rPr>
              <a:t> 	:	Output image obtained as the result of the preprocessing algorithm</a:t>
            </a:r>
          </a:p>
          <a:p>
            <a:pPr marL="0" indent="0">
              <a:buNone/>
            </a:pPr>
            <a:r>
              <a:rPr lang="en-US" sz="2200" i="1" dirty="0"/>
              <a:t>	It 		:	</a:t>
            </a:r>
            <a:r>
              <a:rPr lang="en-US" sz="2200" dirty="0"/>
              <a:t>Mean gray value of the target region</a:t>
            </a:r>
          </a:p>
          <a:p>
            <a:pPr marL="0" indent="0">
              <a:buNone/>
            </a:pPr>
            <a:r>
              <a:rPr lang="en-US" sz="2200" dirty="0"/>
              <a:t>	</a:t>
            </a:r>
            <a:r>
              <a:rPr lang="en-US" sz="2200" i="1" dirty="0" err="1"/>
              <a:t>Ib</a:t>
            </a:r>
            <a:r>
              <a:rPr lang="en-US" sz="2200" i="1" dirty="0"/>
              <a:t>		: 	</a:t>
            </a:r>
            <a:r>
              <a:rPr lang="en-US" sz="2200" dirty="0"/>
              <a:t>Mean gray value of background </a:t>
            </a:r>
          </a:p>
          <a:p>
            <a:pPr marL="0" indent="0">
              <a:buNone/>
            </a:pPr>
            <a:r>
              <a:rPr lang="en-US" sz="2200" i="1" dirty="0"/>
              <a:t>	</a:t>
            </a:r>
            <a:r>
              <a:rPr lang="en-US" sz="2200" i="1" dirty="0" err="1"/>
              <a:t>Cb</a:t>
            </a:r>
            <a:r>
              <a:rPr lang="en-US" sz="2200" i="1" dirty="0"/>
              <a:t>		:	 </a:t>
            </a:r>
            <a:r>
              <a:rPr lang="en-US" sz="2200" dirty="0"/>
              <a:t>Standard deviation of the background.</a:t>
            </a:r>
            <a:endParaRPr lang="en-US" sz="2200" b="1" dirty="0">
              <a:latin typeface="Times New Roman" pitchFamily="18" charset="0"/>
              <a:cs typeface="Times New Roman" pitchFamily="18" charset="0"/>
            </a:endParaRPr>
          </a:p>
          <a:p>
            <a:pPr algn="ctr"/>
            <a:endParaRPr lang="en-US" sz="2200" b="1" dirty="0">
              <a:latin typeface="Times New Roman" pitchFamily="18" charset="0"/>
              <a:cs typeface="Times New Roman" pitchFamily="18" charset="0"/>
            </a:endParaRPr>
          </a:p>
        </p:txBody>
      </p:sp>
      <p:pic>
        <p:nvPicPr>
          <p:cNvPr id="3" name="Picture 2"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0663" y="2898072"/>
            <a:ext cx="3077005" cy="790685"/>
          </a:xfrm>
          <a:prstGeom prst="rect">
            <a:avLst/>
          </a:prstGeom>
        </p:spPr>
      </p:pic>
      <p:pic>
        <p:nvPicPr>
          <p:cNvPr id="7" name="Picture 6"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9550" y="2898072"/>
            <a:ext cx="2324425" cy="800212"/>
          </a:xfrm>
          <a:prstGeom prst="rect">
            <a:avLst/>
          </a:prstGeom>
        </p:spPr>
      </p:pic>
    </p:spTree>
    <p:extLst>
      <p:ext uri="{BB962C8B-B14F-4D97-AF65-F5344CB8AC3E}">
        <p14:creationId xmlns:p14="http://schemas.microsoft.com/office/powerpoint/2010/main" val="37355504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159028"/>
            <a:ext cx="10131425" cy="808382"/>
          </a:xfrm>
        </p:spPr>
        <p:txBody>
          <a:bodyPr/>
          <a:lstStyle/>
          <a:p>
            <a:pPr algn="ctr"/>
            <a:r>
              <a:rPr lang="en-US" dirty="0"/>
              <a:t>REFERENCES</a:t>
            </a:r>
          </a:p>
        </p:txBody>
      </p:sp>
      <p:sp>
        <p:nvSpPr>
          <p:cNvPr id="3" name="Content Placeholder 2"/>
          <p:cNvSpPr>
            <a:spLocks noGrp="1"/>
          </p:cNvSpPr>
          <p:nvPr>
            <p:ph idx="1"/>
          </p:nvPr>
        </p:nvSpPr>
        <p:spPr>
          <a:xfrm>
            <a:off x="685801" y="1987826"/>
            <a:ext cx="11188147" cy="5062329"/>
          </a:xfrm>
        </p:spPr>
        <p:txBody>
          <a:bodyPr>
            <a:normAutofit fontScale="77500" lnSpcReduction="20000"/>
          </a:bodyPr>
          <a:lstStyle/>
          <a:p>
            <a:pPr marL="457200" indent="-457200">
              <a:buFont typeface="+mj-lt"/>
              <a:buAutoNum type="arabicPeriod"/>
            </a:pPr>
            <a:r>
              <a:rPr lang="en-US" sz="2400" b="1" dirty="0">
                <a:solidFill>
                  <a:srgbClr val="FFC000"/>
                </a:solidFill>
                <a:latin typeface="Times New Roman" panose="02020603050405020304" pitchFamily="18" charset="0"/>
                <a:ea typeface="Tahoma" pitchFamily="34" charset="0"/>
                <a:cs typeface="Times New Roman" panose="02020603050405020304" pitchFamily="18" charset="0"/>
              </a:rPr>
              <a:t>“</a:t>
            </a:r>
            <a:r>
              <a:rPr lang="en-US" sz="2400" b="1" dirty="0">
                <a:solidFill>
                  <a:srgbClr val="FFC000"/>
                </a:solidFill>
                <a:latin typeface="Times New Roman" panose="02020603050405020304" pitchFamily="18" charset="0"/>
                <a:cs typeface="Times New Roman" panose="02020603050405020304" pitchFamily="18" charset="0"/>
              </a:rPr>
              <a:t>Multi-Instance Multi-label Learning Combining Hierarchical Context and Its Application to Image Annotation </a:t>
            </a:r>
            <a:r>
              <a:rPr lang="en-US" sz="2400" b="1" dirty="0">
                <a:solidFill>
                  <a:srgbClr val="FFC000"/>
                </a:solidFill>
                <a:latin typeface="Times New Roman" panose="02020603050405020304" pitchFamily="18" charset="0"/>
                <a:ea typeface="Tahoma" pitchFamily="34" charset="0"/>
                <a:cs typeface="Times New Roman" panose="02020603050405020304" pitchFamily="18" charset="0"/>
              </a:rPr>
              <a:t>”</a:t>
            </a:r>
            <a:r>
              <a:rPr lang="en-US" sz="2400" dirty="0">
                <a:solidFill>
                  <a:srgbClr val="FFC000"/>
                </a:solidFill>
                <a:latin typeface="Times New Roman" panose="02020603050405020304" pitchFamily="18" charset="0"/>
                <a:ea typeface="Tahoma" pitchFamily="34" charset="0"/>
                <a:cs typeface="Times New Roman" panose="02020603050405020304" pitchFamily="18" charset="0"/>
              </a:rPr>
              <a:t>,</a:t>
            </a:r>
            <a:r>
              <a:rPr lang="en-US" sz="2400" dirty="0">
                <a:solidFill>
                  <a:srgbClr val="FFC000"/>
                </a:solidFill>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Xinmiao</a:t>
            </a:r>
            <a:r>
              <a:rPr lang="en-US" sz="2400" dirty="0">
                <a:latin typeface="Times New Roman" panose="02020603050405020304" pitchFamily="18" charset="0"/>
                <a:cs typeface="Times New Roman" panose="02020603050405020304" pitchFamily="18" charset="0"/>
              </a:rPr>
              <a:t> Ding, Bing Li, </a:t>
            </a:r>
            <a:r>
              <a:rPr lang="en-US" sz="2400" dirty="0" err="1">
                <a:latin typeface="Times New Roman" panose="02020603050405020304" pitchFamily="18" charset="0"/>
                <a:cs typeface="Times New Roman" panose="02020603050405020304" pitchFamily="18" charset="0"/>
              </a:rPr>
              <a:t>Weihua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Xiong</a:t>
            </a:r>
            <a:r>
              <a:rPr lang="en-US" sz="2400" dirty="0">
                <a:latin typeface="Times New Roman" panose="02020603050405020304" pitchFamily="18" charset="0"/>
                <a:cs typeface="Times New Roman" panose="02020603050405020304" pitchFamily="18" charset="0"/>
              </a:rPr>
              <a:t>, Wen </a:t>
            </a:r>
            <a:r>
              <a:rPr lang="en-US" sz="2400" dirty="0" err="1">
                <a:latin typeface="Times New Roman" panose="02020603050405020304" pitchFamily="18" charset="0"/>
                <a:cs typeface="Times New Roman" panose="02020603050405020304" pitchFamily="18" charset="0"/>
              </a:rPr>
              <a:t>Guo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Weiming</a:t>
            </a:r>
            <a:r>
              <a:rPr lang="en-US" sz="2400" dirty="0">
                <a:latin typeface="Times New Roman" panose="02020603050405020304" pitchFamily="18" charset="0"/>
                <a:cs typeface="Times New Roman" panose="02020603050405020304" pitchFamily="18" charset="0"/>
              </a:rPr>
              <a:t> Hu, Bo Wang </a:t>
            </a:r>
            <a:r>
              <a:rPr lang="en-US" sz="2400" dirty="0">
                <a:latin typeface="Times New Roman" panose="02020603050405020304" pitchFamily="18" charset="0"/>
                <a:ea typeface="Tahoma" pitchFamily="34" charset="0"/>
                <a:cs typeface="Times New Roman" panose="02020603050405020304" pitchFamily="18" charset="0"/>
              </a:rPr>
              <a:t>, </a:t>
            </a:r>
            <a:r>
              <a:rPr lang="en-US" sz="2000" dirty="0">
                <a:latin typeface="Times New Roman" panose="02020603050405020304" pitchFamily="18" charset="0"/>
                <a:ea typeface="Tahoma" pitchFamily="34" charset="0"/>
                <a:cs typeface="Times New Roman" panose="02020603050405020304" pitchFamily="18" charset="0"/>
              </a:rPr>
              <a:t>IEEE Transactions on </a:t>
            </a:r>
            <a:r>
              <a:rPr lang="en-US" sz="2000" dirty="0">
                <a:latin typeface="Times New Roman" panose="02020603050405020304" pitchFamily="18" charset="0"/>
                <a:cs typeface="Times New Roman" panose="02020603050405020304" pitchFamily="18" charset="0"/>
              </a:rPr>
              <a:t>Multimedia,</a:t>
            </a:r>
            <a:r>
              <a:rPr lang="en-US" sz="2400" dirty="0">
                <a:latin typeface="Times New Roman" panose="02020603050405020304" pitchFamily="18" charset="0"/>
                <a:cs typeface="Times New Roman" panose="02020603050405020304" pitchFamily="18" charset="0"/>
              </a:rPr>
              <a:t> Volume: 18, Issue:8,Pages: 1616 - 1627, </a:t>
            </a:r>
            <a:r>
              <a:rPr lang="en-US" sz="2300" dirty="0">
                <a:latin typeface="Times New Roman" panose="02020603050405020304" pitchFamily="18" charset="0"/>
                <a:cs typeface="Times New Roman" panose="02020603050405020304" pitchFamily="18" charset="0"/>
              </a:rPr>
              <a:t>2016.</a:t>
            </a:r>
          </a:p>
          <a:p>
            <a:pPr marL="457200" indent="-457200">
              <a:buFont typeface="+mj-lt"/>
              <a:buAutoNum type="arabicPeriod"/>
            </a:pPr>
            <a:r>
              <a:rPr lang="en-US" sz="2400" b="1" dirty="0">
                <a:latin typeface="Times New Roman" panose="02020603050405020304" pitchFamily="18" charset="0"/>
                <a:ea typeface="Tahoma" pitchFamily="34" charset="0"/>
                <a:cs typeface="Times New Roman" panose="02020603050405020304" pitchFamily="18" charset="0"/>
              </a:rPr>
              <a:t>“</a:t>
            </a:r>
            <a:r>
              <a:rPr lang="en-US" sz="2400" b="1" dirty="0">
                <a:solidFill>
                  <a:srgbClr val="FFC000"/>
                </a:solidFill>
                <a:latin typeface="Times New Roman" panose="02020603050405020304" pitchFamily="18" charset="0"/>
                <a:cs typeface="Times New Roman" panose="02020603050405020304" pitchFamily="18" charset="0"/>
              </a:rPr>
              <a:t>An Automatic Approach for Translating Simple Images into Text Descriptions and Speech for Visually Impaired People </a:t>
            </a:r>
            <a:r>
              <a:rPr lang="en-US" sz="2400" b="1" dirty="0">
                <a:latin typeface="Times New Roman" panose="02020603050405020304" pitchFamily="18" charset="0"/>
                <a:ea typeface="Tahoma" pitchFamily="34" charset="0"/>
                <a:cs typeface="Times New Roman" panose="02020603050405020304" pitchFamily="18" charset="0"/>
              </a:rPr>
              <a:t>”</a:t>
            </a:r>
            <a:r>
              <a:rPr lang="en-US" sz="2400" dirty="0">
                <a:latin typeface="Times New Roman" panose="02020603050405020304" pitchFamily="18" charset="0"/>
                <a:ea typeface="Tahoma" pitchFamily="34" charset="0"/>
                <a:cs typeface="Times New Roman" panose="02020603050405020304" pitchFamily="18" charset="0"/>
              </a:rPr>
              <a:t>,</a:t>
            </a:r>
            <a:r>
              <a:rPr lang="en-US" sz="2400" b="1" dirty="0">
                <a:latin typeface="Times New Roman" panose="02020603050405020304" pitchFamily="18" charset="0"/>
                <a:ea typeface="Tahoma" pitchFamily="34"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Mrunmayee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Patil</a:t>
            </a:r>
            <a:r>
              <a:rPr lang="en-US" sz="2400" dirty="0">
                <a:latin typeface="Times New Roman" panose="02020603050405020304" pitchFamily="18" charset="0"/>
                <a:cs typeface="Times New Roman" panose="02020603050405020304" pitchFamily="18" charset="0"/>
              </a:rPr>
              <a:t>, Ramesh </a:t>
            </a:r>
            <a:r>
              <a:rPr lang="en-US" sz="2400" dirty="0" err="1">
                <a:latin typeface="Times New Roman" panose="02020603050405020304" pitchFamily="18" charset="0"/>
                <a:cs typeface="Times New Roman" panose="02020603050405020304" pitchFamily="18" charset="0"/>
              </a:rPr>
              <a:t>Kagalkar</a:t>
            </a:r>
            <a:r>
              <a:rPr lang="en-US"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ea typeface="Tahoma" pitchFamily="34" charset="0"/>
                <a:cs typeface="Times New Roman" panose="02020603050405020304" pitchFamily="18" charset="0"/>
              </a:rPr>
              <a:t>, </a:t>
            </a:r>
            <a:r>
              <a:rPr lang="en-US" sz="2400" i="1" dirty="0">
                <a:latin typeface="Times New Roman" panose="02020603050405020304" pitchFamily="18" charset="0"/>
                <a:ea typeface="Tahoma" pitchFamily="34" charset="0"/>
                <a:cs typeface="Times New Roman" panose="02020603050405020304" pitchFamily="18" charset="0"/>
              </a:rPr>
              <a:t>I</a:t>
            </a:r>
            <a:r>
              <a:rPr lang="en-US" sz="2400" i="1" dirty="0">
                <a:latin typeface="Times New Roman" panose="02020603050405020304" pitchFamily="18" charset="0"/>
                <a:cs typeface="Times New Roman" panose="02020603050405020304" pitchFamily="18" charset="0"/>
              </a:rPr>
              <a:t>nternational Journal of Computer Applications,</a:t>
            </a:r>
            <a:r>
              <a:rPr lang="en-US" sz="2400" dirty="0">
                <a:latin typeface="Times New Roman" panose="02020603050405020304" pitchFamily="18" charset="0"/>
                <a:cs typeface="Times New Roman" panose="02020603050405020304" pitchFamily="18" charset="0"/>
              </a:rPr>
              <a:t> Volume 118- May 2015</a:t>
            </a:r>
            <a:r>
              <a:rPr lang="en-US" sz="2400" i="1" dirty="0">
                <a:latin typeface="Times New Roman" panose="02020603050405020304" pitchFamily="18" charset="0"/>
                <a:cs typeface="Times New Roman" panose="02020603050405020304" pitchFamily="18" charset="0"/>
              </a:rPr>
              <a:t>. </a:t>
            </a:r>
          </a:p>
          <a:p>
            <a:pPr marL="457200" indent="-457200">
              <a:buFont typeface="+mj-lt"/>
              <a:buAutoNum type="arabicPeriod"/>
            </a:pPr>
            <a:r>
              <a:rPr lang="en-US" sz="2400" b="1" dirty="0">
                <a:latin typeface="Times New Roman" pitchFamily="18" charset="0"/>
                <a:ea typeface="Tahoma" pitchFamily="34" charset="0"/>
                <a:cs typeface="Times New Roman" pitchFamily="18" charset="0"/>
              </a:rPr>
              <a:t>“</a:t>
            </a:r>
            <a:r>
              <a:rPr lang="en-US" sz="2400" b="1" dirty="0">
                <a:solidFill>
                  <a:srgbClr val="FFC000"/>
                </a:solidFill>
                <a:latin typeface="Times New Roman" pitchFamily="18" charset="0"/>
                <a:cs typeface="Times New Roman" pitchFamily="18" charset="0"/>
              </a:rPr>
              <a:t>Multiple Bernoulli Relevance Models for Image and Video Annotation</a:t>
            </a:r>
            <a:r>
              <a:rPr lang="en-US" sz="2400" b="1" dirty="0">
                <a:latin typeface="Times New Roman" pitchFamily="18" charset="0"/>
                <a:ea typeface="Tahoma" pitchFamily="34" charset="0"/>
                <a:cs typeface="Times New Roman" pitchFamily="18" charset="0"/>
              </a:rPr>
              <a:t>“,   </a:t>
            </a:r>
            <a:r>
              <a:rPr lang="en-US" sz="2400" b="1" dirty="0">
                <a:solidFill>
                  <a:srgbClr val="FFC000"/>
                </a:solidFill>
                <a:latin typeface="Times New Roman" panose="02020603050405020304" pitchFamily="18" charset="0"/>
                <a:ea typeface="Tahoma" pitchFamily="34" charset="0"/>
                <a:cs typeface="Times New Roman" panose="02020603050405020304" pitchFamily="18" charset="0"/>
              </a:rPr>
              <a:t> </a:t>
            </a:r>
            <a:r>
              <a:rPr lang="en-US" sz="2400" dirty="0">
                <a:latin typeface="Times New Roman" pitchFamily="18" charset="0"/>
                <a:cs typeface="Times New Roman" pitchFamily="18" charset="0"/>
              </a:rPr>
              <a:t>S. L. Feng, R. </a:t>
            </a:r>
            <a:r>
              <a:rPr lang="en-US" sz="2400" dirty="0" err="1">
                <a:latin typeface="Times New Roman" pitchFamily="18" charset="0"/>
                <a:cs typeface="Times New Roman" pitchFamily="18" charset="0"/>
              </a:rPr>
              <a:t>Manmatha</a:t>
            </a:r>
            <a:r>
              <a:rPr lang="en-US" sz="2400" dirty="0">
                <a:latin typeface="Times New Roman" pitchFamily="18" charset="0"/>
                <a:cs typeface="Times New Roman" pitchFamily="18" charset="0"/>
              </a:rPr>
              <a:t> and V. </a:t>
            </a:r>
            <a:r>
              <a:rPr lang="en-US" sz="2400" dirty="0" err="1">
                <a:latin typeface="Times New Roman" pitchFamily="18" charset="0"/>
                <a:cs typeface="Times New Roman" pitchFamily="18" charset="0"/>
              </a:rPr>
              <a:t>Lavrenko</a:t>
            </a:r>
            <a:r>
              <a:rPr lang="en-US" sz="2400" dirty="0">
                <a:latin typeface="Times New Roman" pitchFamily="18" charset="0"/>
                <a:cs typeface="Times New Roman" pitchFamily="18" charset="0"/>
              </a:rPr>
              <a:t>,  Multimedia Indexing and Retrieval Group Center for Intelligent Information Retrieval.</a:t>
            </a:r>
          </a:p>
          <a:p>
            <a:pPr marL="457200" indent="-457200">
              <a:buFont typeface="+mj-lt"/>
              <a:buAutoNum type="arabicPeriod"/>
            </a:pPr>
            <a:r>
              <a:rPr lang="en-US" sz="2400" b="1" dirty="0">
                <a:latin typeface="Times New Roman" pitchFamily="18" charset="0"/>
                <a:ea typeface="Tahoma" pitchFamily="34" charset="0"/>
                <a:cs typeface="Times New Roman" pitchFamily="18" charset="0"/>
              </a:rPr>
              <a:t>“</a:t>
            </a:r>
            <a:r>
              <a:rPr lang="en-US" sz="2400" b="1" dirty="0">
                <a:solidFill>
                  <a:srgbClr val="FFC000"/>
                </a:solidFill>
                <a:latin typeface="Times New Roman" pitchFamily="18" charset="0"/>
                <a:cs typeface="Times New Roman" pitchFamily="18" charset="0"/>
              </a:rPr>
              <a:t>A survey on automatic image annotation and trends of the new age</a:t>
            </a:r>
            <a:r>
              <a:rPr lang="en-US" sz="2400" b="1" dirty="0">
                <a:solidFill>
                  <a:srgbClr val="FFC000"/>
                </a:solidFill>
                <a:latin typeface="Times New Roman" panose="02020603050405020304" pitchFamily="18" charset="0"/>
                <a:ea typeface="Tahoma" pitchFamily="34" charset="0"/>
                <a:cs typeface="Times New Roman" panose="02020603050405020304" pitchFamily="18" charset="0"/>
              </a:rPr>
              <a:t> </a:t>
            </a:r>
            <a:r>
              <a:rPr lang="en-US" sz="2400" b="1" dirty="0">
                <a:latin typeface="Times New Roman" pitchFamily="18" charset="0"/>
                <a:ea typeface="Tahoma" pitchFamily="34" charset="0"/>
                <a:cs typeface="Times New Roman" pitchFamily="18" charset="0"/>
              </a:rPr>
              <a:t>“,</a:t>
            </a:r>
            <a:r>
              <a:rPr lang="en-US" sz="2400" b="1" dirty="0">
                <a:solidFill>
                  <a:srgbClr val="FFC000"/>
                </a:solidFill>
                <a:latin typeface="Times New Roman" panose="02020603050405020304" pitchFamily="18" charset="0"/>
                <a:ea typeface="Tahoma" pitchFamily="34" charset="0"/>
                <a:cs typeface="Times New Roman" panose="02020603050405020304" pitchFamily="18" charset="0"/>
              </a:rPr>
              <a:t> </a:t>
            </a:r>
            <a:r>
              <a:rPr lang="en-US" sz="2400" dirty="0" err="1">
                <a:latin typeface="Times New Roman" pitchFamily="18" charset="0"/>
                <a:cs typeface="Times New Roman" pitchFamily="18" charset="0"/>
              </a:rPr>
              <a:t>Feichao</a:t>
            </a:r>
            <a:r>
              <a:rPr lang="en-US" sz="2400" dirty="0">
                <a:latin typeface="Times New Roman" pitchFamily="18" charset="0"/>
                <a:cs typeface="Times New Roman" pitchFamily="18" charset="0"/>
              </a:rPr>
              <a:t> Wang</a:t>
            </a:r>
            <a:r>
              <a:rPr lang="en-US" sz="2400" dirty="0">
                <a:latin typeface="Times New Roman" panose="02020603050405020304" pitchFamily="18" charset="0"/>
                <a:ea typeface="Tahoma" pitchFamily="34" charset="0"/>
                <a:cs typeface="Times New Roman" panose="02020603050405020304" pitchFamily="18" charset="0"/>
              </a:rPr>
              <a:t>, </a:t>
            </a:r>
            <a:r>
              <a:rPr lang="en-US" sz="2400" dirty="0">
                <a:latin typeface="Times New Roman" pitchFamily="18" charset="0"/>
                <a:cs typeface="Times New Roman" pitchFamily="18" charset="0"/>
              </a:rPr>
              <a:t>Procedia Engineering,2011.</a:t>
            </a:r>
          </a:p>
          <a:p>
            <a:pPr marL="457200" indent="-457200">
              <a:buFont typeface="+mj-lt"/>
              <a:buAutoNum type="arabicPeriod"/>
            </a:pPr>
            <a:r>
              <a:rPr lang="en-US" sz="2400" b="1" dirty="0">
                <a:latin typeface="Times New Roman" pitchFamily="18" charset="0"/>
                <a:ea typeface="Tahoma" pitchFamily="34" charset="0"/>
                <a:cs typeface="Times New Roman" pitchFamily="18" charset="0"/>
              </a:rPr>
              <a:t>“</a:t>
            </a:r>
            <a:r>
              <a:rPr lang="en-US" sz="2400" b="1" dirty="0">
                <a:solidFill>
                  <a:srgbClr val="FFC000"/>
                </a:solidFill>
                <a:latin typeface="Times New Roman" pitchFamily="18" charset="0"/>
                <a:cs typeface="Times New Roman" pitchFamily="18" charset="0"/>
              </a:rPr>
              <a:t>PLSA based Image </a:t>
            </a:r>
            <a:r>
              <a:rPr lang="en-US" sz="2400" b="1" dirty="0" err="1">
                <a:solidFill>
                  <a:srgbClr val="FFC000"/>
                </a:solidFill>
                <a:latin typeface="Times New Roman" pitchFamily="18" charset="0"/>
                <a:cs typeface="Times New Roman" pitchFamily="18" charset="0"/>
              </a:rPr>
              <a:t>AutoAnnotation</a:t>
            </a:r>
            <a:r>
              <a:rPr lang="en-US" sz="2400" b="1" dirty="0">
                <a:solidFill>
                  <a:srgbClr val="FFC000"/>
                </a:solidFill>
                <a:latin typeface="Times New Roman" pitchFamily="18" charset="0"/>
                <a:cs typeface="Times New Roman" pitchFamily="18" charset="0"/>
              </a:rPr>
              <a:t>: Constraining the Latent Space</a:t>
            </a:r>
            <a:r>
              <a:rPr lang="en-US" sz="2400" b="1" dirty="0">
                <a:latin typeface="Times New Roman" pitchFamily="18" charset="0"/>
                <a:ea typeface="Tahoma" pitchFamily="34" charset="0"/>
                <a:cs typeface="Times New Roman" pitchFamily="18" charset="0"/>
              </a:rPr>
              <a:t>“,</a:t>
            </a:r>
            <a:r>
              <a:rPr lang="en-US" sz="2400" b="1" dirty="0">
                <a:solidFill>
                  <a:srgbClr val="FFC000"/>
                </a:solidFill>
                <a:latin typeface="Times New Roman" panose="02020603050405020304" pitchFamily="18" charset="0"/>
                <a:ea typeface="Tahoma" pitchFamily="34" charset="0"/>
                <a:cs typeface="Times New Roman" panose="02020603050405020304" pitchFamily="18" charset="0"/>
              </a:rPr>
              <a:t> </a:t>
            </a:r>
            <a:r>
              <a:rPr lang="en-US" sz="2400" dirty="0" err="1">
                <a:latin typeface="Times New Roman" pitchFamily="18" charset="0"/>
                <a:cs typeface="Times New Roman" pitchFamily="18" charset="0"/>
              </a:rPr>
              <a:t>Florent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Monay</a:t>
            </a:r>
            <a:r>
              <a:rPr lang="en-US" sz="2400" dirty="0">
                <a:latin typeface="Times New Roman" pitchFamily="18" charset="0"/>
                <a:cs typeface="Times New Roman" pitchFamily="18" charset="0"/>
              </a:rPr>
              <a:t>, Daniel </a:t>
            </a:r>
            <a:r>
              <a:rPr lang="en-US" sz="2400" dirty="0" err="1">
                <a:latin typeface="Times New Roman" pitchFamily="18" charset="0"/>
                <a:cs typeface="Times New Roman" pitchFamily="18" charset="0"/>
              </a:rPr>
              <a:t>GaticaPerez</a:t>
            </a:r>
            <a:r>
              <a:rPr lang="en-US" sz="2400" dirty="0">
                <a:latin typeface="Times New Roman" panose="02020603050405020304" pitchFamily="18" charset="0"/>
                <a:ea typeface="Tahoma" pitchFamily="34" charset="0"/>
                <a:cs typeface="Times New Roman" panose="02020603050405020304" pitchFamily="18" charset="0"/>
              </a:rPr>
              <a:t>, </a:t>
            </a:r>
            <a:r>
              <a:rPr lang="en-US" sz="2400" dirty="0">
                <a:latin typeface="Times New Roman" pitchFamily="18" charset="0"/>
                <a:cs typeface="Times New Roman" pitchFamily="18" charset="0"/>
              </a:rPr>
              <a:t>IDIAP Research Institute.</a:t>
            </a:r>
          </a:p>
          <a:p>
            <a:pPr marL="457200" indent="-457200">
              <a:buFont typeface="+mj-lt"/>
              <a:buAutoNum type="arabicPeriod"/>
            </a:pPr>
            <a:r>
              <a:rPr lang="en-US" sz="2400" b="1" dirty="0">
                <a:latin typeface="Times New Roman" pitchFamily="18" charset="0"/>
                <a:ea typeface="Tahoma" pitchFamily="34" charset="0"/>
                <a:cs typeface="Times New Roman" pitchFamily="18" charset="0"/>
              </a:rPr>
              <a:t>“</a:t>
            </a:r>
            <a:r>
              <a:rPr lang="en-US" sz="2400" b="1" dirty="0">
                <a:solidFill>
                  <a:srgbClr val="FFC000"/>
                </a:solidFill>
                <a:latin typeface="Times New Roman" pitchFamily="18" charset="0"/>
                <a:cs typeface="Times New Roman" pitchFamily="18" charset="0"/>
              </a:rPr>
              <a:t>A Model for Learning the Semantics of Pictures</a:t>
            </a:r>
            <a:r>
              <a:rPr lang="en-US" sz="2400" b="1" dirty="0">
                <a:latin typeface="Times New Roman" pitchFamily="18" charset="0"/>
                <a:ea typeface="Tahoma" pitchFamily="34" charset="0"/>
                <a:cs typeface="Times New Roman" pitchFamily="18" charset="0"/>
              </a:rPr>
              <a:t>“,</a:t>
            </a:r>
            <a:r>
              <a:rPr lang="en-US" sz="2400" b="1" dirty="0">
                <a:solidFill>
                  <a:srgbClr val="FFC000"/>
                </a:solidFill>
                <a:latin typeface="Times New Roman" panose="02020603050405020304" pitchFamily="18" charset="0"/>
                <a:ea typeface="Tahoma" pitchFamily="34" charset="0"/>
                <a:cs typeface="Times New Roman" panose="02020603050405020304" pitchFamily="18" charset="0"/>
              </a:rPr>
              <a:t> </a:t>
            </a:r>
            <a:r>
              <a:rPr lang="fi-FI" sz="2400" b="1" dirty="0">
                <a:latin typeface="Times New Roman" pitchFamily="18" charset="0"/>
                <a:cs typeface="Times New Roman" pitchFamily="18" charset="0"/>
              </a:rPr>
              <a:t>V. Lavrenko, R. Manmatha, J. Jeon</a:t>
            </a:r>
            <a:r>
              <a:rPr lang="en-US" sz="2400" dirty="0">
                <a:latin typeface="Times New Roman" panose="02020603050405020304" pitchFamily="18" charset="0"/>
                <a:ea typeface="Tahoma" pitchFamily="34" charset="0"/>
                <a:cs typeface="Times New Roman" panose="02020603050405020304" pitchFamily="18" charset="0"/>
              </a:rPr>
              <a:t>, </a:t>
            </a:r>
            <a:r>
              <a:rPr lang="en-US" sz="2400" dirty="0">
                <a:latin typeface="Times New Roman" pitchFamily="18" charset="0"/>
                <a:cs typeface="Times New Roman" pitchFamily="18" charset="0"/>
              </a:rPr>
              <a:t>Center for Intelligent Information Retrieval Computer Science Department.</a:t>
            </a:r>
          </a:p>
          <a:p>
            <a:pPr marL="457200" indent="-457200">
              <a:buFont typeface="+mj-lt"/>
              <a:buAutoNum type="arabicPeriod"/>
            </a:pPr>
            <a:r>
              <a:rPr lang="en-US" sz="2400" b="1" dirty="0">
                <a:latin typeface="Times New Roman" pitchFamily="18" charset="0"/>
                <a:ea typeface="Tahoma" pitchFamily="34" charset="0"/>
                <a:cs typeface="Times New Roman" pitchFamily="18" charset="0"/>
              </a:rPr>
              <a:t>“</a:t>
            </a:r>
            <a:r>
              <a:rPr lang="en-US" sz="2400" b="1" dirty="0">
                <a:solidFill>
                  <a:srgbClr val="FFC000"/>
                </a:solidFill>
                <a:latin typeface="Times New Roman" pitchFamily="18" charset="0"/>
                <a:cs typeface="Times New Roman" pitchFamily="18" charset="0"/>
              </a:rPr>
              <a:t>Automatic Image Annotation and Retrieval using </a:t>
            </a:r>
            <a:r>
              <a:rPr lang="en-US" sz="2400" b="1" dirty="0" err="1">
                <a:solidFill>
                  <a:srgbClr val="FFC000"/>
                </a:solidFill>
                <a:latin typeface="Times New Roman" pitchFamily="18" charset="0"/>
                <a:cs typeface="Times New Roman" pitchFamily="18" charset="0"/>
              </a:rPr>
              <a:t>CrossMedia</a:t>
            </a:r>
            <a:r>
              <a:rPr lang="en-US" sz="2400" b="1" dirty="0">
                <a:solidFill>
                  <a:srgbClr val="FFC000"/>
                </a:solidFill>
                <a:latin typeface="Times New Roman" pitchFamily="18" charset="0"/>
                <a:cs typeface="Times New Roman" pitchFamily="18" charset="0"/>
              </a:rPr>
              <a:t> Relevance Models</a:t>
            </a:r>
            <a:r>
              <a:rPr lang="en-US" sz="2400" b="1" dirty="0">
                <a:latin typeface="Times New Roman" pitchFamily="18" charset="0"/>
                <a:ea typeface="Tahoma" pitchFamily="34" charset="0"/>
                <a:cs typeface="Times New Roman" pitchFamily="18" charset="0"/>
              </a:rPr>
              <a:t>“,</a:t>
            </a:r>
            <a:r>
              <a:rPr lang="en-US" sz="2400" b="1" dirty="0">
                <a:solidFill>
                  <a:srgbClr val="FFC000"/>
                </a:solidFill>
                <a:latin typeface="Times New Roman" panose="02020603050405020304" pitchFamily="18" charset="0"/>
                <a:ea typeface="Tahoma" pitchFamily="34" charset="0"/>
                <a:cs typeface="Times New Roman" panose="02020603050405020304" pitchFamily="18" charset="0"/>
              </a:rPr>
              <a:t> </a:t>
            </a:r>
            <a:r>
              <a:rPr lang="en-US" sz="2400" dirty="0">
                <a:latin typeface="Times New Roman" pitchFamily="18" charset="0"/>
                <a:cs typeface="Times New Roman" pitchFamily="18" charset="0"/>
              </a:rPr>
              <a:t>J. Jeon, V. </a:t>
            </a:r>
            <a:r>
              <a:rPr lang="en-US" sz="2400" dirty="0" err="1">
                <a:latin typeface="Times New Roman" pitchFamily="18" charset="0"/>
                <a:cs typeface="Times New Roman" pitchFamily="18" charset="0"/>
              </a:rPr>
              <a:t>Lavrenko</a:t>
            </a:r>
            <a:r>
              <a:rPr lang="en-US" sz="2400" dirty="0">
                <a:latin typeface="Times New Roman" pitchFamily="18" charset="0"/>
                <a:cs typeface="Times New Roman" pitchFamily="18" charset="0"/>
              </a:rPr>
              <a:t> and R. </a:t>
            </a:r>
            <a:r>
              <a:rPr lang="en-US" sz="2400" dirty="0" err="1">
                <a:latin typeface="Times New Roman" pitchFamily="18" charset="0"/>
                <a:cs typeface="Times New Roman" pitchFamily="18" charset="0"/>
              </a:rPr>
              <a:t>Manmatha</a:t>
            </a:r>
            <a:r>
              <a:rPr lang="en-US" sz="2400" dirty="0">
                <a:latin typeface="Times New Roman" panose="02020603050405020304" pitchFamily="18" charset="0"/>
                <a:ea typeface="Tahoma" pitchFamily="34" charset="0"/>
                <a:cs typeface="Times New Roman" panose="02020603050405020304" pitchFamily="18" charset="0"/>
              </a:rPr>
              <a:t>, </a:t>
            </a:r>
            <a:r>
              <a:rPr lang="en-US" sz="2400" dirty="0">
                <a:latin typeface="Times New Roman" pitchFamily="18" charset="0"/>
                <a:cs typeface="Times New Roman" pitchFamily="18" charset="0"/>
              </a:rPr>
              <a:t>Center for Intelligent Information Retrieval Computer Science Department.</a:t>
            </a:r>
            <a:endParaRPr lang="en-US" sz="2400" i="1" dirty="0">
              <a:latin typeface="Times New Roman" panose="02020603050405020304" pitchFamily="18" charset="0"/>
              <a:ea typeface="Tahoma" pitchFamily="34" charset="0"/>
              <a:cs typeface="Times New Roman" panose="02020603050405020304" pitchFamily="18" charset="0"/>
            </a:endParaRPr>
          </a:p>
          <a:p>
            <a:pPr marL="457200" indent="-457200">
              <a:buFont typeface="+mj-lt"/>
              <a:buAutoNum type="arabicPeriod"/>
            </a:pPr>
            <a:endParaRPr lang="en-US" sz="2400" i="1" dirty="0">
              <a:latin typeface="Times New Roman" panose="02020603050405020304" pitchFamily="18" charset="0"/>
              <a:ea typeface="Tahoma" pitchFamily="34" charset="0"/>
              <a:cs typeface="Times New Roman" panose="02020603050405020304" pitchFamily="18" charset="0"/>
            </a:endParaRPr>
          </a:p>
          <a:p>
            <a:pPr marL="457200" indent="-457200">
              <a:buFont typeface="+mj-lt"/>
              <a:buAutoNum type="arabicPeriod"/>
            </a:pPr>
            <a:endParaRPr lang="en-US" sz="2400" i="1" dirty="0">
              <a:latin typeface="Times New Roman" panose="02020603050405020304" pitchFamily="18" charset="0"/>
              <a:ea typeface="Tahoma" pitchFamily="34" charset="0"/>
              <a:cs typeface="Times New Roman" panose="02020603050405020304" pitchFamily="18" charset="0"/>
            </a:endParaRPr>
          </a:p>
          <a:p>
            <a:pPr marL="457200" indent="-457200">
              <a:buFont typeface="+mj-lt"/>
              <a:buAutoNum type="arabicPeriod"/>
            </a:pPr>
            <a:endParaRPr lang="en-US" sz="2400" i="1" dirty="0">
              <a:latin typeface="Times New Roman" panose="02020603050405020304" pitchFamily="18" charset="0"/>
              <a:ea typeface="Tahoma" pitchFamily="34" charset="0"/>
              <a:cs typeface="Times New Roman" panose="02020603050405020304" pitchFamily="18" charset="0"/>
            </a:endParaRPr>
          </a:p>
          <a:p>
            <a:pPr marL="457200" indent="-457200">
              <a:buFont typeface="+mj-lt"/>
              <a:buAutoNum type="arabicPeriod"/>
            </a:pPr>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251598741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TM03457452[[fn=Celestial]]</Template>
  <TotalTime>1664</TotalTime>
  <Words>856</Words>
  <Application>Microsoft Office PowerPoint</Application>
  <PresentationFormat>Widescreen</PresentationFormat>
  <Paragraphs>273</Paragraphs>
  <Slides>33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Calibri</vt:lpstr>
      <vt:lpstr>Calibri Light</vt:lpstr>
      <vt:lpstr>Tahoma</vt:lpstr>
      <vt:lpstr>Times New Roman</vt:lpstr>
      <vt:lpstr>Celestial</vt:lpstr>
      <vt:lpstr>SEMANTIC UNDERSTANDING OF AN IMAGE USING  MULTI REGION LABEL ANNOTATION</vt:lpstr>
      <vt:lpstr>ABSTRACT</vt:lpstr>
      <vt:lpstr>INTRODUCTION</vt:lpstr>
      <vt:lpstr>LITERATURE SURVEY-1</vt:lpstr>
      <vt:lpstr>LITERATURE SURVEY-2</vt:lpstr>
      <vt:lpstr>LITERATURE SURVEY - 3</vt:lpstr>
      <vt:lpstr>LITERATURE SURVEY - 4</vt:lpstr>
      <vt:lpstr>LITERATURE SURVEY - 5</vt:lpstr>
      <vt:lpstr>LITERATURE SURVEY - 6</vt:lpstr>
      <vt:lpstr>LITERATURE SURVEY - 7</vt:lpstr>
      <vt:lpstr>PROPOSED SYSTEM</vt:lpstr>
      <vt:lpstr>OVERALL ARCHITECTURE DIAGRAM</vt:lpstr>
      <vt:lpstr>PowerPoint Presentation</vt:lpstr>
      <vt:lpstr>DETAILED MODULE DESIGN</vt:lpstr>
      <vt:lpstr>PowerPoint Presentation</vt:lpstr>
      <vt:lpstr>      PRE-PROCESSING</vt:lpstr>
      <vt:lpstr>PowerPoint Presentation</vt:lpstr>
      <vt:lpstr>      EDGE DETECTION</vt:lpstr>
      <vt:lpstr>PowerPoint Presentation</vt:lpstr>
      <vt:lpstr>     Region SEGMENTATION</vt:lpstr>
      <vt:lpstr>PowerPoint Presentation</vt:lpstr>
      <vt:lpstr>     FEATURE EXTRACTION</vt:lpstr>
      <vt:lpstr>PowerPoint Presentation</vt:lpstr>
      <vt:lpstr>   MULTI LABEL IMAGE ANNOTATION</vt:lpstr>
      <vt:lpstr>PowerPoint Presentation</vt:lpstr>
      <vt:lpstr>PowerPoint Presentation</vt:lpstr>
      <vt:lpstr>    SPATIAL RELATIONSHIP DETERMINATION </vt:lpstr>
      <vt:lpstr>     Performance metrics</vt:lpstr>
      <vt:lpstr>     Performance metrics</vt:lpstr>
      <vt:lpstr>     Performance metrics</vt:lpstr>
      <vt:lpstr>     Performance metrics</vt:lpstr>
      <vt:lpstr>     Performance metrics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STATIC IMAGE TO TEXTUAL DESCRIPTION USING SEMANTIC SCENE UNDERSTANDING</dc:title>
  <dc:creator>Ashwin Kumar</dc:creator>
  <cp:lastModifiedBy>Ashwin Kumar</cp:lastModifiedBy>
  <cp:revision>172</cp:revision>
  <dcterms:created xsi:type="dcterms:W3CDTF">2016-09-28T15:00:15Z</dcterms:created>
  <dcterms:modified xsi:type="dcterms:W3CDTF">2017-02-20T15:11:13Z</dcterms:modified>
</cp:coreProperties>
</file>